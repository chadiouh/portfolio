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embeddedFontLst>
    <p:embeddedFont>
      <p:font typeface="Bebas Neue Bold" panose="020B0604020202020204" charset="0"/>
      <p:regular r:id="rId27"/>
    </p:embeddedFont>
    <p:embeddedFont>
      <p:font typeface="Open Sans Bold" panose="020B0604020202020204" charset="0"/>
      <p:regular r:id="rId28"/>
    </p:embeddedFont>
    <p:embeddedFont>
      <p:font typeface="Raleway" panose="020F0502020204030204" pitchFamily="2" charset="0"/>
      <p:regular r:id="rId29"/>
    </p:embeddedFont>
    <p:embeddedFont>
      <p:font typeface="Raleway Bold" panose="020B0604020202020204" charset="0"/>
      <p:regular r:id="rId30"/>
    </p:embeddedFont>
    <p:embeddedFont>
      <p:font typeface="Raleway Bold Italics" panose="020B0604020202020204" charset="0"/>
      <p:regular r:id="rId31"/>
    </p:embeddedFont>
    <p:embeddedFont>
      <p:font typeface="Raleway Italics"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6.sv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6.sv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9533163" y="1500333"/>
            <a:ext cx="7387257" cy="738725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5E9">
                    <a:alpha val="100000"/>
                  </a:srgbClr>
                </a:gs>
                <a:gs pos="100000">
                  <a:srgbClr val="E7E8E4">
                    <a:alpha val="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grpSp>
        <p:nvGrpSpPr>
          <p:cNvPr id="5" name="Group 5"/>
          <p:cNvGrpSpPr/>
          <p:nvPr/>
        </p:nvGrpSpPr>
        <p:grpSpPr>
          <a:xfrm>
            <a:off x="14632374" y="1028700"/>
            <a:ext cx="3413934" cy="341393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5E9">
                    <a:alpha val="100000"/>
                  </a:srgbClr>
                </a:gs>
                <a:gs pos="100000">
                  <a:srgbClr val="E7E8E4">
                    <a:alpha val="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sp>
        <p:nvSpPr>
          <p:cNvPr id="8" name="Freeform 8"/>
          <p:cNvSpPr/>
          <p:nvPr/>
        </p:nvSpPr>
        <p:spPr>
          <a:xfrm>
            <a:off x="9863737" y="2440148"/>
            <a:ext cx="5916396" cy="5507627"/>
          </a:xfrm>
          <a:custGeom>
            <a:avLst/>
            <a:gdLst/>
            <a:ahLst/>
            <a:cxnLst/>
            <a:rect l="l" t="t" r="r" b="b"/>
            <a:pathLst>
              <a:path w="5916396" h="5507627">
                <a:moveTo>
                  <a:pt x="0" y="0"/>
                </a:moveTo>
                <a:lnTo>
                  <a:pt x="5916396" y="0"/>
                </a:lnTo>
                <a:lnTo>
                  <a:pt x="5916396" y="5507627"/>
                </a:lnTo>
                <a:lnTo>
                  <a:pt x="0" y="55076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423809" y="3204834"/>
            <a:ext cx="7116667" cy="4133851"/>
          </a:xfrm>
          <a:prstGeom prst="rect">
            <a:avLst/>
          </a:prstGeom>
        </p:spPr>
        <p:txBody>
          <a:bodyPr lIns="0" tIns="0" rIns="0" bIns="0" rtlCol="0" anchor="t">
            <a:spAutoFit/>
          </a:bodyPr>
          <a:lstStyle/>
          <a:p>
            <a:pPr algn="l">
              <a:lnSpc>
                <a:spcPts val="8000"/>
              </a:lnSpc>
            </a:pPr>
            <a:r>
              <a:rPr lang="en-US" sz="8000" b="1">
                <a:solidFill>
                  <a:srgbClr val="FFFFFF"/>
                </a:solidFill>
                <a:latin typeface="Bebas Neue Bold"/>
                <a:ea typeface="Bebas Neue Bold"/>
                <a:cs typeface="Bebas Neue Bold"/>
                <a:sym typeface="Bebas Neue Bold"/>
              </a:rPr>
              <a:t>Classifiez automatiquement des biens de consommation</a:t>
            </a:r>
          </a:p>
        </p:txBody>
      </p:sp>
      <p:sp>
        <p:nvSpPr>
          <p:cNvPr id="10" name="Freeform 10"/>
          <p:cNvSpPr/>
          <p:nvPr/>
        </p:nvSpPr>
        <p:spPr>
          <a:xfrm>
            <a:off x="1423809" y="7170626"/>
            <a:ext cx="6602343" cy="336119"/>
          </a:xfrm>
          <a:custGeom>
            <a:avLst/>
            <a:gdLst/>
            <a:ahLst/>
            <a:cxnLst/>
            <a:rect l="l" t="t" r="r" b="b"/>
            <a:pathLst>
              <a:path w="6602343" h="336119">
                <a:moveTo>
                  <a:pt x="0" y="0"/>
                </a:moveTo>
                <a:lnTo>
                  <a:pt x="6602344" y="0"/>
                </a:lnTo>
                <a:lnTo>
                  <a:pt x="6602344" y="336119"/>
                </a:lnTo>
                <a:lnTo>
                  <a:pt x="0" y="3361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0745465" y="6448040"/>
            <a:ext cx="5034668" cy="2810260"/>
          </a:xfrm>
          <a:custGeom>
            <a:avLst/>
            <a:gdLst/>
            <a:ahLst/>
            <a:cxnLst/>
            <a:rect l="l" t="t" r="r" b="b"/>
            <a:pathLst>
              <a:path w="5034668" h="2810260">
                <a:moveTo>
                  <a:pt x="0" y="0"/>
                </a:moveTo>
                <a:lnTo>
                  <a:pt x="5034668" y="0"/>
                </a:lnTo>
                <a:lnTo>
                  <a:pt x="5034668" y="2810260"/>
                </a:lnTo>
                <a:lnTo>
                  <a:pt x="0" y="281026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1091936" y="552280"/>
            <a:ext cx="2843806" cy="1587361"/>
          </a:xfrm>
          <a:custGeom>
            <a:avLst/>
            <a:gdLst/>
            <a:ahLst/>
            <a:cxnLst/>
            <a:rect l="l" t="t" r="r" b="b"/>
            <a:pathLst>
              <a:path w="2843806" h="1587361">
                <a:moveTo>
                  <a:pt x="0" y="0"/>
                </a:moveTo>
                <a:lnTo>
                  <a:pt x="2843807" y="0"/>
                </a:lnTo>
                <a:lnTo>
                  <a:pt x="2843807" y="1587361"/>
                </a:lnTo>
                <a:lnTo>
                  <a:pt x="0" y="158736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TextBox 13"/>
          <p:cNvSpPr txBox="1"/>
          <p:nvPr/>
        </p:nvSpPr>
        <p:spPr>
          <a:xfrm>
            <a:off x="1473092" y="7841607"/>
            <a:ext cx="7067384" cy="547370"/>
          </a:xfrm>
          <a:prstGeom prst="rect">
            <a:avLst/>
          </a:prstGeom>
        </p:spPr>
        <p:txBody>
          <a:bodyPr lIns="0" tIns="0" rIns="0" bIns="0" rtlCol="0" anchor="t">
            <a:spAutoFit/>
          </a:bodyPr>
          <a:lstStyle/>
          <a:p>
            <a:pPr algn="l">
              <a:lnSpc>
                <a:spcPts val="4480"/>
              </a:lnSpc>
              <a:spcBef>
                <a:spcPct val="0"/>
              </a:spcBef>
            </a:pPr>
            <a:r>
              <a:rPr lang="en-US" sz="3200">
                <a:solidFill>
                  <a:srgbClr val="FFFFFF"/>
                </a:solidFill>
                <a:latin typeface="Raleway"/>
                <a:ea typeface="Raleway"/>
                <a:cs typeface="Raleway"/>
                <a:sym typeface="Raleway"/>
              </a:rPr>
              <a:t>POUR LE COMPTE DE FLIPKART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1355227" y="-514350"/>
            <a:ext cx="5904073" cy="11980352"/>
            <a:chOff x="0" y="0"/>
            <a:chExt cx="1554982" cy="3155319"/>
          </a:xfrm>
        </p:grpSpPr>
        <p:sp>
          <p:nvSpPr>
            <p:cNvPr id="3" name="Freeform 3"/>
            <p:cNvSpPr/>
            <p:nvPr/>
          </p:nvSpPr>
          <p:spPr>
            <a:xfrm>
              <a:off x="0" y="0"/>
              <a:ext cx="1554982" cy="3155319"/>
            </a:xfrm>
            <a:custGeom>
              <a:avLst/>
              <a:gdLst/>
              <a:ahLst/>
              <a:cxnLst/>
              <a:rect l="l" t="t" r="r" b="b"/>
              <a:pathLst>
                <a:path w="1554982" h="3155319">
                  <a:moveTo>
                    <a:pt x="0" y="0"/>
                  </a:moveTo>
                  <a:lnTo>
                    <a:pt x="1554982" y="0"/>
                  </a:lnTo>
                  <a:lnTo>
                    <a:pt x="1554982" y="3155319"/>
                  </a:lnTo>
                  <a:lnTo>
                    <a:pt x="0" y="3155319"/>
                  </a:lnTo>
                  <a:close/>
                </a:path>
              </a:pathLst>
            </a:custGeom>
            <a:gradFill rotWithShape="1">
              <a:gsLst>
                <a:gs pos="0">
                  <a:srgbClr val="FFF5E9">
                    <a:alpha val="100000"/>
                  </a:srgbClr>
                </a:gs>
                <a:gs pos="50000">
                  <a:srgbClr val="E7E8E4">
                    <a:alpha val="100000"/>
                  </a:srgbClr>
                </a:gs>
                <a:gs pos="100000">
                  <a:srgbClr val="E7E8E4">
                    <a:alpha val="0"/>
                  </a:srgbClr>
                </a:gs>
              </a:gsLst>
              <a:lin ang="5400000"/>
            </a:gradFill>
          </p:spPr>
        </p:sp>
        <p:sp>
          <p:nvSpPr>
            <p:cNvPr id="4" name="TextBox 4"/>
            <p:cNvSpPr txBox="1"/>
            <p:nvPr/>
          </p:nvSpPr>
          <p:spPr>
            <a:xfrm>
              <a:off x="0" y="-38100"/>
              <a:ext cx="1554982" cy="3193419"/>
            </a:xfrm>
            <a:prstGeom prst="rect">
              <a:avLst/>
            </a:prstGeom>
          </p:spPr>
          <p:txBody>
            <a:bodyPr lIns="50800" tIns="50800" rIns="50800" bIns="50800" rtlCol="0" anchor="ctr"/>
            <a:lstStyle/>
            <a:p>
              <a:pPr algn="ctr">
                <a:lnSpc>
                  <a:spcPts val="2212"/>
                </a:lnSpc>
              </a:pPr>
              <a:endParaRPr/>
            </a:p>
          </p:txBody>
        </p:sp>
      </p:grpSp>
      <p:grpSp>
        <p:nvGrpSpPr>
          <p:cNvPr id="5" name="Group 5"/>
          <p:cNvGrpSpPr/>
          <p:nvPr/>
        </p:nvGrpSpPr>
        <p:grpSpPr>
          <a:xfrm rot="-7498549">
            <a:off x="14571659" y="4508829"/>
            <a:ext cx="3413934" cy="341393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grpSp>
        <p:nvGrpSpPr>
          <p:cNvPr id="8" name="Group 8"/>
          <p:cNvGrpSpPr/>
          <p:nvPr/>
        </p:nvGrpSpPr>
        <p:grpSpPr>
          <a:xfrm>
            <a:off x="11737009" y="1729566"/>
            <a:ext cx="3413934" cy="341393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sp>
        <p:nvSpPr>
          <p:cNvPr id="11" name="Freeform 11"/>
          <p:cNvSpPr/>
          <p:nvPr/>
        </p:nvSpPr>
        <p:spPr>
          <a:xfrm>
            <a:off x="11737009" y="2460621"/>
            <a:ext cx="4756561" cy="6475516"/>
          </a:xfrm>
          <a:custGeom>
            <a:avLst/>
            <a:gdLst/>
            <a:ahLst/>
            <a:cxnLst/>
            <a:rect l="l" t="t" r="r" b="b"/>
            <a:pathLst>
              <a:path w="4756561" h="6475516">
                <a:moveTo>
                  <a:pt x="0" y="0"/>
                </a:moveTo>
                <a:lnTo>
                  <a:pt x="4756560" y="0"/>
                </a:lnTo>
                <a:lnTo>
                  <a:pt x="4756560" y="6475515"/>
                </a:lnTo>
                <a:lnTo>
                  <a:pt x="0" y="64755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1028700" y="1171575"/>
            <a:ext cx="5385535"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Problematique</a:t>
            </a:r>
          </a:p>
        </p:txBody>
      </p:sp>
      <p:sp>
        <p:nvSpPr>
          <p:cNvPr id="13" name="TextBox 13"/>
          <p:cNvSpPr txBox="1"/>
          <p:nvPr/>
        </p:nvSpPr>
        <p:spPr>
          <a:xfrm>
            <a:off x="1028700" y="3098053"/>
            <a:ext cx="9227351" cy="2600325"/>
          </a:xfrm>
          <a:prstGeom prst="rect">
            <a:avLst/>
          </a:prstGeom>
        </p:spPr>
        <p:txBody>
          <a:bodyPr lIns="0" tIns="0" rIns="0" bIns="0" rtlCol="0" anchor="t">
            <a:spAutoFit/>
          </a:bodyPr>
          <a:lstStyle/>
          <a:p>
            <a:pPr algn="l">
              <a:lnSpc>
                <a:spcPts val="4199"/>
              </a:lnSpc>
              <a:spcBef>
                <a:spcPct val="0"/>
              </a:spcBef>
            </a:pPr>
            <a:r>
              <a:rPr lang="en-US" sz="2999" b="1" i="1">
                <a:solidFill>
                  <a:srgbClr val="FFFFFF"/>
                </a:solidFill>
                <a:latin typeface="Raleway Bold Italics"/>
                <a:ea typeface="Raleway Bold Italics"/>
                <a:cs typeface="Raleway Bold Italics"/>
                <a:sym typeface="Raleway Bold Italics"/>
              </a:rPr>
              <a:t>Situation actuelle :</a:t>
            </a:r>
            <a:r>
              <a:rPr lang="en-US" sz="2999">
                <a:solidFill>
                  <a:srgbClr val="FFFFFF"/>
                </a:solidFill>
                <a:latin typeface="Raleway"/>
                <a:ea typeface="Raleway"/>
                <a:cs typeface="Raleway"/>
                <a:sym typeface="Raleway"/>
              </a:rPr>
              <a:t> Comment automatiser la classification des articles e-commerce à partir de leur description et de leur image pour améliorer l’expérience utilisateur et préparer la montée en charge de la marketplace ?</a:t>
            </a:r>
          </a:p>
        </p:txBody>
      </p:sp>
      <p:sp>
        <p:nvSpPr>
          <p:cNvPr id="14" name="TextBox 14"/>
          <p:cNvSpPr txBox="1"/>
          <p:nvPr/>
        </p:nvSpPr>
        <p:spPr>
          <a:xfrm>
            <a:off x="1028700" y="6498478"/>
            <a:ext cx="9227351" cy="2600325"/>
          </a:xfrm>
          <a:prstGeom prst="rect">
            <a:avLst/>
          </a:prstGeom>
        </p:spPr>
        <p:txBody>
          <a:bodyPr lIns="0" tIns="0" rIns="0" bIns="0" rtlCol="0" anchor="t">
            <a:spAutoFit/>
          </a:bodyPr>
          <a:lstStyle/>
          <a:p>
            <a:pPr algn="l">
              <a:lnSpc>
                <a:spcPts val="4199"/>
              </a:lnSpc>
              <a:spcBef>
                <a:spcPct val="0"/>
              </a:spcBef>
            </a:pPr>
            <a:r>
              <a:rPr lang="en-US" sz="2999" b="1" i="1">
                <a:solidFill>
                  <a:srgbClr val="FFFFFF"/>
                </a:solidFill>
                <a:latin typeface="Raleway Bold Italics"/>
                <a:ea typeface="Raleway Bold Italics"/>
                <a:cs typeface="Raleway Bold Italics"/>
                <a:sym typeface="Raleway Bold Italics"/>
              </a:rPr>
              <a:t>Difficulté : </a:t>
            </a:r>
            <a:r>
              <a:rPr lang="en-US" sz="2999" i="1">
                <a:solidFill>
                  <a:srgbClr val="FFFFFF"/>
                </a:solidFill>
                <a:latin typeface="Raleway Italics"/>
                <a:ea typeface="Raleway Italics"/>
                <a:cs typeface="Raleway Italics"/>
                <a:sym typeface="Raleway Italics"/>
              </a:rPr>
              <a:t>Actuellement, la classification est manuelle, peu fiable, et non scalable, ce qui complique la recherche des produits pour les clients et ralentit l’intégration des nouveaux articles sur la plateforme.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126724" y="3603201"/>
            <a:ext cx="674722" cy="674722"/>
          </a:xfrm>
          <a:custGeom>
            <a:avLst/>
            <a:gdLst/>
            <a:ahLst/>
            <a:cxnLst/>
            <a:rect l="l" t="t" r="r" b="b"/>
            <a:pathLst>
              <a:path w="674722" h="674722">
                <a:moveTo>
                  <a:pt x="0" y="0"/>
                </a:moveTo>
                <a:lnTo>
                  <a:pt x="674722" y="0"/>
                </a:lnTo>
                <a:lnTo>
                  <a:pt x="674722" y="674723"/>
                </a:lnTo>
                <a:lnTo>
                  <a:pt x="0" y="6747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126724" y="6483326"/>
            <a:ext cx="674722" cy="674722"/>
          </a:xfrm>
          <a:custGeom>
            <a:avLst/>
            <a:gdLst/>
            <a:ahLst/>
            <a:cxnLst/>
            <a:rect l="l" t="t" r="r" b="b"/>
            <a:pathLst>
              <a:path w="674722" h="674722">
                <a:moveTo>
                  <a:pt x="0" y="0"/>
                </a:moveTo>
                <a:lnTo>
                  <a:pt x="674722" y="0"/>
                </a:lnTo>
                <a:lnTo>
                  <a:pt x="674722" y="674722"/>
                </a:lnTo>
                <a:lnTo>
                  <a:pt x="0" y="6747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231399" y="2680302"/>
            <a:ext cx="5905397" cy="590539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5E9">
                    <a:alpha val="100000"/>
                  </a:srgbClr>
                </a:gs>
                <a:gs pos="100000">
                  <a:srgbClr val="E7E8E4">
                    <a:alpha val="0"/>
                  </a:srgbClr>
                </a:gs>
              </a:gsLst>
              <a:lin ang="0"/>
            </a:gradFill>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sp>
        <p:nvSpPr>
          <p:cNvPr id="7" name="Freeform 7"/>
          <p:cNvSpPr/>
          <p:nvPr/>
        </p:nvSpPr>
        <p:spPr>
          <a:xfrm>
            <a:off x="1423809" y="3515896"/>
            <a:ext cx="5663047" cy="4478956"/>
          </a:xfrm>
          <a:custGeom>
            <a:avLst/>
            <a:gdLst/>
            <a:ahLst/>
            <a:cxnLst/>
            <a:rect l="l" t="t" r="r" b="b"/>
            <a:pathLst>
              <a:path w="5663047" h="4478956">
                <a:moveTo>
                  <a:pt x="0" y="0"/>
                </a:moveTo>
                <a:lnTo>
                  <a:pt x="5663048" y="0"/>
                </a:lnTo>
                <a:lnTo>
                  <a:pt x="5663048" y="4478956"/>
                </a:lnTo>
                <a:lnTo>
                  <a:pt x="0" y="44789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10552517" y="1171575"/>
            <a:ext cx="6706783"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La solution</a:t>
            </a:r>
          </a:p>
        </p:txBody>
      </p:sp>
      <p:sp>
        <p:nvSpPr>
          <p:cNvPr id="9" name="TextBox 9"/>
          <p:cNvSpPr txBox="1"/>
          <p:nvPr/>
        </p:nvSpPr>
        <p:spPr>
          <a:xfrm>
            <a:off x="10552517" y="2138085"/>
            <a:ext cx="5385535" cy="1122605"/>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Faisabilité</a:t>
            </a:r>
          </a:p>
        </p:txBody>
      </p:sp>
      <p:sp>
        <p:nvSpPr>
          <p:cNvPr id="10" name="TextBox 10"/>
          <p:cNvSpPr txBox="1"/>
          <p:nvPr/>
        </p:nvSpPr>
        <p:spPr>
          <a:xfrm>
            <a:off x="9144000" y="3458746"/>
            <a:ext cx="6987675" cy="2510790"/>
          </a:xfrm>
          <a:prstGeom prst="rect">
            <a:avLst/>
          </a:prstGeom>
        </p:spPr>
        <p:txBody>
          <a:bodyPr lIns="0" tIns="0" rIns="0" bIns="0" rtlCol="0" anchor="t">
            <a:spAutoFit/>
          </a:bodyPr>
          <a:lstStyle/>
          <a:p>
            <a:pPr algn="l">
              <a:lnSpc>
                <a:spcPts val="3359"/>
              </a:lnSpc>
              <a:spcBef>
                <a:spcPct val="0"/>
              </a:spcBef>
            </a:pPr>
            <a:r>
              <a:rPr lang="en-US" sz="2400">
                <a:solidFill>
                  <a:srgbClr val="FFFFFF"/>
                </a:solidFill>
                <a:latin typeface="Raleway"/>
                <a:ea typeface="Raleway"/>
                <a:cs typeface="Raleway"/>
                <a:sym typeface="Raleway"/>
              </a:rPr>
              <a:t>NLP : Le NLP (Natural Language Processing) permet de transformer les textes en représentations numériques exploitables par des modèles, pour extraire du sens et faire des prédictions, comme ici prédire la catégorie d’un produit à partir de son titre et sa description.</a:t>
            </a:r>
          </a:p>
        </p:txBody>
      </p:sp>
      <p:sp>
        <p:nvSpPr>
          <p:cNvPr id="11" name="TextBox 11"/>
          <p:cNvSpPr txBox="1"/>
          <p:nvPr/>
        </p:nvSpPr>
        <p:spPr>
          <a:xfrm>
            <a:off x="9144000" y="6328410"/>
            <a:ext cx="6987675" cy="2929890"/>
          </a:xfrm>
          <a:prstGeom prst="rect">
            <a:avLst/>
          </a:prstGeom>
        </p:spPr>
        <p:txBody>
          <a:bodyPr lIns="0" tIns="0" rIns="0" bIns="0" rtlCol="0" anchor="t">
            <a:spAutoFit/>
          </a:bodyPr>
          <a:lstStyle/>
          <a:p>
            <a:pPr algn="l">
              <a:lnSpc>
                <a:spcPts val="3359"/>
              </a:lnSpc>
              <a:spcBef>
                <a:spcPct val="0"/>
              </a:spcBef>
            </a:pPr>
            <a:r>
              <a:rPr lang="en-US" sz="2400">
                <a:solidFill>
                  <a:srgbClr val="FFFFFF"/>
                </a:solidFill>
                <a:latin typeface="Raleway"/>
                <a:ea typeface="Raleway"/>
                <a:cs typeface="Raleway"/>
                <a:sym typeface="Raleway"/>
              </a:rPr>
              <a:t>Traitement d’image : Le traitement d’image permet de transformer les visuels en descripteurs numériques, qu’ils soient classiques (SIFT, BoVW) ou avancés (CNN comme VGG16), pour analyser les formes, les textures ou les objets présents et ainsi prédire la catégorie du produit à partir de son image.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58188" y="7180569"/>
            <a:ext cx="5034668" cy="2810260"/>
          </a:xfrm>
          <a:custGeom>
            <a:avLst/>
            <a:gdLst/>
            <a:ahLst/>
            <a:cxnLst/>
            <a:rect l="l" t="t" r="r" b="b"/>
            <a:pathLst>
              <a:path w="5034668" h="2810260">
                <a:moveTo>
                  <a:pt x="0" y="0"/>
                </a:moveTo>
                <a:lnTo>
                  <a:pt x="5034668" y="0"/>
                </a:lnTo>
                <a:lnTo>
                  <a:pt x="5034668" y="2810261"/>
                </a:lnTo>
                <a:lnTo>
                  <a:pt x="0" y="28102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54938" y="3738608"/>
            <a:ext cx="2843806" cy="1587361"/>
          </a:xfrm>
          <a:custGeom>
            <a:avLst/>
            <a:gdLst/>
            <a:ahLst/>
            <a:cxnLst/>
            <a:rect l="l" t="t" r="r" b="b"/>
            <a:pathLst>
              <a:path w="2843806" h="1587361">
                <a:moveTo>
                  <a:pt x="0" y="0"/>
                </a:moveTo>
                <a:lnTo>
                  <a:pt x="2843806" y="0"/>
                </a:lnTo>
                <a:lnTo>
                  <a:pt x="2843806" y="1587361"/>
                </a:lnTo>
                <a:lnTo>
                  <a:pt x="0" y="15873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835950" y="2574860"/>
            <a:ext cx="6616100" cy="6683440"/>
          </a:xfrm>
          <a:custGeom>
            <a:avLst/>
            <a:gdLst/>
            <a:ahLst/>
            <a:cxnLst/>
            <a:rect l="l" t="t" r="r" b="b"/>
            <a:pathLst>
              <a:path w="6616100" h="6683440">
                <a:moveTo>
                  <a:pt x="0" y="0"/>
                </a:moveTo>
                <a:lnTo>
                  <a:pt x="6616100" y="0"/>
                </a:lnTo>
                <a:lnTo>
                  <a:pt x="6616100" y="6683440"/>
                </a:lnTo>
                <a:lnTo>
                  <a:pt x="0" y="6683440"/>
                </a:lnTo>
                <a:lnTo>
                  <a:pt x="0" y="0"/>
                </a:lnTo>
                <a:close/>
              </a:path>
            </a:pathLst>
          </a:custGeom>
          <a:blipFill>
            <a:blip r:embed="rId6"/>
            <a:stretch>
              <a:fillRect/>
            </a:stretch>
          </a:blipFill>
        </p:spPr>
      </p:sp>
      <p:sp>
        <p:nvSpPr>
          <p:cNvPr id="5" name="TextBox 5"/>
          <p:cNvSpPr txBox="1"/>
          <p:nvPr/>
        </p:nvSpPr>
        <p:spPr>
          <a:xfrm>
            <a:off x="6683345" y="1171575"/>
            <a:ext cx="4921310" cy="1128786"/>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Data flipkart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6451232" y="1171575"/>
            <a:ext cx="5385535" cy="1128784"/>
          </a:xfrm>
          <a:prstGeom prst="rect">
            <a:avLst/>
          </a:prstGeom>
        </p:spPr>
        <p:txBody>
          <a:bodyPr lIns="0" tIns="0" rIns="0" bIns="0" rtlCol="0" anchor="t">
            <a:spAutoFit/>
          </a:bodyPr>
          <a:lstStyle/>
          <a:p>
            <a:pPr algn="ctr">
              <a:lnSpc>
                <a:spcPts val="8315"/>
              </a:lnSpc>
            </a:pPr>
            <a:r>
              <a:rPr lang="en-US" sz="8315" b="1">
                <a:solidFill>
                  <a:srgbClr val="FFFFFF"/>
                </a:solidFill>
                <a:latin typeface="Bebas Neue Bold"/>
                <a:ea typeface="Bebas Neue Bold"/>
                <a:cs typeface="Bebas Neue Bold"/>
                <a:sym typeface="Bebas Neue Bold"/>
              </a:rPr>
              <a:t>Plan</a:t>
            </a:r>
          </a:p>
        </p:txBody>
      </p:sp>
      <p:sp>
        <p:nvSpPr>
          <p:cNvPr id="3" name="TextBox 3"/>
          <p:cNvSpPr txBox="1"/>
          <p:nvPr/>
        </p:nvSpPr>
        <p:spPr>
          <a:xfrm>
            <a:off x="3816491" y="2138085"/>
            <a:ext cx="10655017" cy="1128786"/>
          </a:xfrm>
          <a:prstGeom prst="rect">
            <a:avLst/>
          </a:prstGeom>
        </p:spPr>
        <p:txBody>
          <a:bodyPr lIns="0" tIns="0" rIns="0" bIns="0" rtlCol="0" anchor="t">
            <a:spAutoFit/>
          </a:bodyPr>
          <a:lstStyle/>
          <a:p>
            <a:pPr algn="ctr">
              <a:lnSpc>
                <a:spcPts val="8315"/>
              </a:lnSpc>
            </a:pPr>
            <a:r>
              <a:rPr lang="en-US" sz="8315" b="1">
                <a:solidFill>
                  <a:srgbClr val="D563A1"/>
                </a:solidFill>
                <a:latin typeface="Bebas Neue Bold"/>
                <a:ea typeface="Bebas Neue Bold"/>
                <a:cs typeface="Bebas Neue Bold"/>
                <a:sym typeface="Bebas Neue Bold"/>
              </a:rPr>
              <a:t>Natural language processing</a:t>
            </a:r>
          </a:p>
        </p:txBody>
      </p:sp>
      <p:sp>
        <p:nvSpPr>
          <p:cNvPr id="4" name="Freeform 4"/>
          <p:cNvSpPr/>
          <p:nvPr/>
        </p:nvSpPr>
        <p:spPr>
          <a:xfrm>
            <a:off x="1540604" y="4957011"/>
            <a:ext cx="674722" cy="674722"/>
          </a:xfrm>
          <a:custGeom>
            <a:avLst/>
            <a:gdLst/>
            <a:ahLst/>
            <a:cxnLst/>
            <a:rect l="l" t="t" r="r" b="b"/>
            <a:pathLst>
              <a:path w="674722" h="674722">
                <a:moveTo>
                  <a:pt x="0" y="0"/>
                </a:moveTo>
                <a:lnTo>
                  <a:pt x="674723" y="0"/>
                </a:lnTo>
                <a:lnTo>
                  <a:pt x="674723" y="674723"/>
                </a:lnTo>
                <a:lnTo>
                  <a:pt x="0" y="6747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2557881" y="4812556"/>
            <a:ext cx="3249511" cy="4461510"/>
          </a:xfrm>
          <a:prstGeom prst="rect">
            <a:avLst/>
          </a:prstGeom>
        </p:spPr>
        <p:txBody>
          <a:bodyPr lIns="0" tIns="0" rIns="0" bIns="0" rtlCol="0" anchor="t">
            <a:spAutoFit/>
          </a:bodyPr>
          <a:lstStyle/>
          <a:p>
            <a:pPr algn="l">
              <a:lnSpc>
                <a:spcPts val="2940"/>
              </a:lnSpc>
              <a:spcBef>
                <a:spcPct val="0"/>
              </a:spcBef>
            </a:pPr>
            <a:r>
              <a:rPr lang="en-US" sz="2100">
                <a:solidFill>
                  <a:srgbClr val="FFFFFF"/>
                </a:solidFill>
                <a:latin typeface="Raleway"/>
                <a:ea typeface="Raleway"/>
                <a:cs typeface="Raleway"/>
                <a:sym typeface="Raleway"/>
              </a:rPr>
              <a:t>Cette étape est essentielle pour supprimer les éléments inutiles (caractères spéciaux, mots sans valeur) et réduire la complexité du texte, afin d’obtenir une base propre et standardisée que les modèles peuvent comprendre et exploiter efficacement.</a:t>
            </a:r>
          </a:p>
        </p:txBody>
      </p:sp>
      <p:sp>
        <p:nvSpPr>
          <p:cNvPr id="6" name="Freeform 6"/>
          <p:cNvSpPr/>
          <p:nvPr/>
        </p:nvSpPr>
        <p:spPr>
          <a:xfrm>
            <a:off x="6832980" y="4957011"/>
            <a:ext cx="674722" cy="674722"/>
          </a:xfrm>
          <a:custGeom>
            <a:avLst/>
            <a:gdLst/>
            <a:ahLst/>
            <a:cxnLst/>
            <a:rect l="l" t="t" r="r" b="b"/>
            <a:pathLst>
              <a:path w="674722" h="674722">
                <a:moveTo>
                  <a:pt x="0" y="0"/>
                </a:moveTo>
                <a:lnTo>
                  <a:pt x="674722" y="0"/>
                </a:lnTo>
                <a:lnTo>
                  <a:pt x="674722" y="674723"/>
                </a:lnTo>
                <a:lnTo>
                  <a:pt x="0" y="6747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7850256" y="4812556"/>
            <a:ext cx="3249511" cy="3718560"/>
          </a:xfrm>
          <a:prstGeom prst="rect">
            <a:avLst/>
          </a:prstGeom>
        </p:spPr>
        <p:txBody>
          <a:bodyPr lIns="0" tIns="0" rIns="0" bIns="0" rtlCol="0" anchor="t">
            <a:spAutoFit/>
          </a:bodyPr>
          <a:lstStyle/>
          <a:p>
            <a:pPr algn="l">
              <a:lnSpc>
                <a:spcPts val="2940"/>
              </a:lnSpc>
              <a:spcBef>
                <a:spcPct val="0"/>
              </a:spcBef>
            </a:pPr>
            <a:r>
              <a:rPr lang="en-US" sz="2100">
                <a:solidFill>
                  <a:srgbClr val="FFFFFF"/>
                </a:solidFill>
                <a:latin typeface="Raleway"/>
                <a:ea typeface="Raleway"/>
                <a:cs typeface="Raleway"/>
                <a:sym typeface="Raleway"/>
              </a:rPr>
              <a:t>Les modèles vectoriels servent à transformer les textes en tableaux de nombres (vecteurs) pour que les algorithmes puissent mesurer les similarités entre les produits et apprendre à les classer automatiquement.</a:t>
            </a:r>
          </a:p>
        </p:txBody>
      </p:sp>
      <p:sp>
        <p:nvSpPr>
          <p:cNvPr id="8" name="Freeform 8"/>
          <p:cNvSpPr/>
          <p:nvPr/>
        </p:nvSpPr>
        <p:spPr>
          <a:xfrm>
            <a:off x="12624851" y="4957011"/>
            <a:ext cx="674722" cy="674722"/>
          </a:xfrm>
          <a:custGeom>
            <a:avLst/>
            <a:gdLst/>
            <a:ahLst/>
            <a:cxnLst/>
            <a:rect l="l" t="t" r="r" b="b"/>
            <a:pathLst>
              <a:path w="674722" h="674722">
                <a:moveTo>
                  <a:pt x="0" y="0"/>
                </a:moveTo>
                <a:lnTo>
                  <a:pt x="674723" y="0"/>
                </a:lnTo>
                <a:lnTo>
                  <a:pt x="674723" y="674723"/>
                </a:lnTo>
                <a:lnTo>
                  <a:pt x="0" y="6747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3642127" y="4812556"/>
            <a:ext cx="3249511" cy="4832985"/>
          </a:xfrm>
          <a:prstGeom prst="rect">
            <a:avLst/>
          </a:prstGeom>
        </p:spPr>
        <p:txBody>
          <a:bodyPr lIns="0" tIns="0" rIns="0" bIns="0" rtlCol="0" anchor="t">
            <a:spAutoFit/>
          </a:bodyPr>
          <a:lstStyle/>
          <a:p>
            <a:pPr algn="l">
              <a:lnSpc>
                <a:spcPts val="2940"/>
              </a:lnSpc>
              <a:spcBef>
                <a:spcPct val="0"/>
              </a:spcBef>
            </a:pPr>
            <a:r>
              <a:rPr lang="en-US" sz="2100">
                <a:solidFill>
                  <a:srgbClr val="FFFFFF"/>
                </a:solidFill>
                <a:latin typeface="Raleway"/>
                <a:ea typeface="Raleway"/>
                <a:cs typeface="Raleway"/>
                <a:sym typeface="Raleway"/>
              </a:rPr>
              <a:t>Les modèles d’embedding permettent de représenter les mots ou phrases dans un espace numérique en tenant compte de leur contexte et de leur signification, ce qui aide les modèles à mieux comprendre le sens global des descriptions et à améliorer la qualité de la classification.</a:t>
            </a:r>
          </a:p>
        </p:txBody>
      </p:sp>
      <p:sp>
        <p:nvSpPr>
          <p:cNvPr id="10" name="Freeform 10"/>
          <p:cNvSpPr/>
          <p:nvPr/>
        </p:nvSpPr>
        <p:spPr>
          <a:xfrm>
            <a:off x="14865004" y="-208218"/>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4">
              <a:alphaModFix amt="44999"/>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2557881" y="4039396"/>
            <a:ext cx="2605088" cy="481330"/>
          </a:xfrm>
          <a:prstGeom prst="rect">
            <a:avLst/>
          </a:prstGeom>
        </p:spPr>
        <p:txBody>
          <a:bodyPr lIns="0" tIns="0" rIns="0" bIns="0" rtlCol="0" anchor="t">
            <a:spAutoFit/>
          </a:bodyPr>
          <a:lstStyle/>
          <a:p>
            <a:pPr algn="ctr">
              <a:lnSpc>
                <a:spcPts val="3919"/>
              </a:lnSpc>
            </a:pPr>
            <a:r>
              <a:rPr lang="en-US" sz="2799" b="1">
                <a:solidFill>
                  <a:srgbClr val="FFFFFF"/>
                </a:solidFill>
                <a:latin typeface="Open Sans Bold"/>
                <a:ea typeface="Open Sans Bold"/>
                <a:cs typeface="Open Sans Bold"/>
                <a:sym typeface="Open Sans Bold"/>
              </a:rPr>
              <a:t>Pre-processing</a:t>
            </a:r>
          </a:p>
        </p:txBody>
      </p:sp>
      <p:sp>
        <p:nvSpPr>
          <p:cNvPr id="12" name="TextBox 12"/>
          <p:cNvSpPr txBox="1"/>
          <p:nvPr/>
        </p:nvSpPr>
        <p:spPr>
          <a:xfrm>
            <a:off x="7835820" y="4039396"/>
            <a:ext cx="3660279" cy="481330"/>
          </a:xfrm>
          <a:prstGeom prst="rect">
            <a:avLst/>
          </a:prstGeom>
        </p:spPr>
        <p:txBody>
          <a:bodyPr lIns="0" tIns="0" rIns="0" bIns="0" rtlCol="0" anchor="t">
            <a:spAutoFit/>
          </a:bodyPr>
          <a:lstStyle/>
          <a:p>
            <a:pPr algn="ctr">
              <a:lnSpc>
                <a:spcPts val="3919"/>
              </a:lnSpc>
            </a:pPr>
            <a:r>
              <a:rPr lang="en-US" sz="2799" b="1">
                <a:solidFill>
                  <a:srgbClr val="FFFFFF"/>
                </a:solidFill>
                <a:latin typeface="Open Sans Bold"/>
                <a:ea typeface="Open Sans Bold"/>
                <a:cs typeface="Open Sans Bold"/>
                <a:sym typeface="Open Sans Bold"/>
              </a:rPr>
              <a:t>Modèles Vectorielles</a:t>
            </a:r>
          </a:p>
        </p:txBody>
      </p:sp>
      <p:sp>
        <p:nvSpPr>
          <p:cNvPr id="13" name="TextBox 13"/>
          <p:cNvSpPr txBox="1"/>
          <p:nvPr/>
        </p:nvSpPr>
        <p:spPr>
          <a:xfrm>
            <a:off x="13680624" y="4039396"/>
            <a:ext cx="3554413" cy="481330"/>
          </a:xfrm>
          <a:prstGeom prst="rect">
            <a:avLst/>
          </a:prstGeom>
        </p:spPr>
        <p:txBody>
          <a:bodyPr lIns="0" tIns="0" rIns="0" bIns="0" rtlCol="0" anchor="t">
            <a:spAutoFit/>
          </a:bodyPr>
          <a:lstStyle/>
          <a:p>
            <a:pPr algn="ctr">
              <a:lnSpc>
                <a:spcPts val="3919"/>
              </a:lnSpc>
            </a:pPr>
            <a:r>
              <a:rPr lang="en-US" sz="2799" b="1">
                <a:solidFill>
                  <a:srgbClr val="FFFFFF"/>
                </a:solidFill>
                <a:latin typeface="Open Sans Bold"/>
                <a:ea typeface="Open Sans Bold"/>
                <a:cs typeface="Open Sans Bold"/>
                <a:sym typeface="Open Sans Bold"/>
              </a:rPr>
              <a:t>Modèles Embedding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028863" y="3189786"/>
            <a:ext cx="3907429" cy="39074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 cap="sq">
              <a:gradFill>
                <a:gsLst>
                  <a:gs pos="0">
                    <a:srgbClr val="B87BA1">
                      <a:alpha val="100000"/>
                    </a:srgbClr>
                  </a:gs>
                  <a:gs pos="100000">
                    <a:srgbClr val="E7E8E4">
                      <a:alpha val="0"/>
                    </a:srgbClr>
                  </a:gs>
                </a:gsLst>
                <a:lin ang="0"/>
              </a:gra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grpSp>
        <p:nvGrpSpPr>
          <p:cNvPr id="5" name="Group 5"/>
          <p:cNvGrpSpPr/>
          <p:nvPr/>
        </p:nvGrpSpPr>
        <p:grpSpPr>
          <a:xfrm>
            <a:off x="6775321" y="3655015"/>
            <a:ext cx="798096" cy="79809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grpSp>
        <p:nvGrpSpPr>
          <p:cNvPr id="8" name="Group 8"/>
          <p:cNvGrpSpPr/>
          <p:nvPr/>
        </p:nvGrpSpPr>
        <p:grpSpPr>
          <a:xfrm>
            <a:off x="6775321" y="5724835"/>
            <a:ext cx="798096" cy="79809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grpSp>
        <p:nvGrpSpPr>
          <p:cNvPr id="11" name="Group 11"/>
          <p:cNvGrpSpPr/>
          <p:nvPr/>
        </p:nvGrpSpPr>
        <p:grpSpPr>
          <a:xfrm>
            <a:off x="10263066" y="3655015"/>
            <a:ext cx="798096" cy="79809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grpSp>
        <p:nvGrpSpPr>
          <p:cNvPr id="14" name="Group 14"/>
          <p:cNvGrpSpPr/>
          <p:nvPr/>
        </p:nvGrpSpPr>
        <p:grpSpPr>
          <a:xfrm>
            <a:off x="10263066" y="5724835"/>
            <a:ext cx="798096" cy="79809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sp>
        <p:nvSpPr>
          <p:cNvPr id="17" name="Freeform 17"/>
          <p:cNvSpPr/>
          <p:nvPr/>
        </p:nvSpPr>
        <p:spPr>
          <a:xfrm>
            <a:off x="7979060" y="4054063"/>
            <a:ext cx="2007033" cy="2007033"/>
          </a:xfrm>
          <a:custGeom>
            <a:avLst/>
            <a:gdLst/>
            <a:ahLst/>
            <a:cxnLst/>
            <a:rect l="l" t="t" r="r" b="b"/>
            <a:pathLst>
              <a:path w="2007033" h="2007033">
                <a:moveTo>
                  <a:pt x="0" y="0"/>
                </a:moveTo>
                <a:lnTo>
                  <a:pt x="2007034" y="0"/>
                </a:lnTo>
                <a:lnTo>
                  <a:pt x="2007034" y="2007033"/>
                </a:lnTo>
                <a:lnTo>
                  <a:pt x="0" y="20070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a:off x="81729" y="3655015"/>
            <a:ext cx="6284017" cy="1696685"/>
          </a:xfrm>
          <a:custGeom>
            <a:avLst/>
            <a:gdLst/>
            <a:ahLst/>
            <a:cxnLst/>
            <a:rect l="l" t="t" r="r" b="b"/>
            <a:pathLst>
              <a:path w="6284017" h="1696685">
                <a:moveTo>
                  <a:pt x="0" y="0"/>
                </a:moveTo>
                <a:lnTo>
                  <a:pt x="6284017" y="0"/>
                </a:lnTo>
                <a:lnTo>
                  <a:pt x="6284017" y="1696684"/>
                </a:lnTo>
                <a:lnTo>
                  <a:pt x="0" y="1696684"/>
                </a:lnTo>
                <a:lnTo>
                  <a:pt x="0" y="0"/>
                </a:lnTo>
                <a:close/>
              </a:path>
            </a:pathLst>
          </a:custGeom>
          <a:blipFill>
            <a:blip r:embed="rId4"/>
            <a:stretch>
              <a:fillRect/>
            </a:stretch>
          </a:blipFill>
        </p:spPr>
      </p:sp>
      <p:sp>
        <p:nvSpPr>
          <p:cNvPr id="19" name="Freeform 19"/>
          <p:cNvSpPr/>
          <p:nvPr/>
        </p:nvSpPr>
        <p:spPr>
          <a:xfrm>
            <a:off x="11470737" y="3510382"/>
            <a:ext cx="6322119" cy="1841317"/>
          </a:xfrm>
          <a:custGeom>
            <a:avLst/>
            <a:gdLst/>
            <a:ahLst/>
            <a:cxnLst/>
            <a:rect l="l" t="t" r="r" b="b"/>
            <a:pathLst>
              <a:path w="6322119" h="1841317">
                <a:moveTo>
                  <a:pt x="0" y="0"/>
                </a:moveTo>
                <a:lnTo>
                  <a:pt x="6322119" y="0"/>
                </a:lnTo>
                <a:lnTo>
                  <a:pt x="6322119" y="1841317"/>
                </a:lnTo>
                <a:lnTo>
                  <a:pt x="0" y="1841317"/>
                </a:lnTo>
                <a:lnTo>
                  <a:pt x="0" y="0"/>
                </a:lnTo>
                <a:close/>
              </a:path>
            </a:pathLst>
          </a:custGeom>
          <a:blipFill>
            <a:blip r:embed="rId5"/>
            <a:stretch>
              <a:fillRect/>
            </a:stretch>
          </a:blipFill>
        </p:spPr>
      </p:sp>
      <p:sp>
        <p:nvSpPr>
          <p:cNvPr id="20" name="Freeform 20"/>
          <p:cNvSpPr/>
          <p:nvPr/>
        </p:nvSpPr>
        <p:spPr>
          <a:xfrm>
            <a:off x="11616406" y="6821696"/>
            <a:ext cx="6030781" cy="1764004"/>
          </a:xfrm>
          <a:custGeom>
            <a:avLst/>
            <a:gdLst/>
            <a:ahLst/>
            <a:cxnLst/>
            <a:rect l="l" t="t" r="r" b="b"/>
            <a:pathLst>
              <a:path w="6030781" h="1764004">
                <a:moveTo>
                  <a:pt x="0" y="0"/>
                </a:moveTo>
                <a:lnTo>
                  <a:pt x="6030781" y="0"/>
                </a:lnTo>
                <a:lnTo>
                  <a:pt x="6030781" y="1764004"/>
                </a:lnTo>
                <a:lnTo>
                  <a:pt x="0" y="1764004"/>
                </a:lnTo>
                <a:lnTo>
                  <a:pt x="0" y="0"/>
                </a:lnTo>
                <a:close/>
              </a:path>
            </a:pathLst>
          </a:custGeom>
          <a:blipFill>
            <a:blip r:embed="rId6"/>
            <a:stretch>
              <a:fillRect/>
            </a:stretch>
          </a:blipFill>
        </p:spPr>
      </p:sp>
      <p:sp>
        <p:nvSpPr>
          <p:cNvPr id="21" name="Freeform 21"/>
          <p:cNvSpPr/>
          <p:nvPr/>
        </p:nvSpPr>
        <p:spPr>
          <a:xfrm>
            <a:off x="221179" y="6821696"/>
            <a:ext cx="6005119" cy="1764004"/>
          </a:xfrm>
          <a:custGeom>
            <a:avLst/>
            <a:gdLst/>
            <a:ahLst/>
            <a:cxnLst/>
            <a:rect l="l" t="t" r="r" b="b"/>
            <a:pathLst>
              <a:path w="6005119" h="1764004">
                <a:moveTo>
                  <a:pt x="0" y="0"/>
                </a:moveTo>
                <a:lnTo>
                  <a:pt x="6005118" y="0"/>
                </a:lnTo>
                <a:lnTo>
                  <a:pt x="6005118" y="1764004"/>
                </a:lnTo>
                <a:lnTo>
                  <a:pt x="0" y="1764004"/>
                </a:lnTo>
                <a:lnTo>
                  <a:pt x="0" y="0"/>
                </a:lnTo>
                <a:close/>
              </a:path>
            </a:pathLst>
          </a:custGeom>
          <a:blipFill>
            <a:blip r:embed="rId7"/>
            <a:stretch>
              <a:fillRect/>
            </a:stretch>
          </a:blipFill>
        </p:spPr>
      </p:sp>
      <p:sp>
        <p:nvSpPr>
          <p:cNvPr id="22" name="TextBox 22"/>
          <p:cNvSpPr txBox="1"/>
          <p:nvPr/>
        </p:nvSpPr>
        <p:spPr>
          <a:xfrm>
            <a:off x="6269962" y="1171575"/>
            <a:ext cx="5748076" cy="1128784"/>
          </a:xfrm>
          <a:prstGeom prst="rect">
            <a:avLst/>
          </a:prstGeom>
        </p:spPr>
        <p:txBody>
          <a:bodyPr lIns="0" tIns="0" rIns="0" bIns="0" rtlCol="0" anchor="t">
            <a:spAutoFit/>
          </a:bodyPr>
          <a:lstStyle/>
          <a:p>
            <a:pPr algn="ctr">
              <a:lnSpc>
                <a:spcPts val="8315"/>
              </a:lnSpc>
            </a:pPr>
            <a:r>
              <a:rPr lang="en-US" sz="8315" b="1">
                <a:solidFill>
                  <a:srgbClr val="FFFFFF"/>
                </a:solidFill>
                <a:latin typeface="Bebas Neue Bold"/>
                <a:ea typeface="Bebas Neue Bold"/>
                <a:cs typeface="Bebas Neue Bold"/>
                <a:sym typeface="Bebas Neue Bold"/>
              </a:rPr>
              <a:t>pre-processing</a:t>
            </a:r>
          </a:p>
        </p:txBody>
      </p:sp>
      <p:sp>
        <p:nvSpPr>
          <p:cNvPr id="23" name="TextBox 23"/>
          <p:cNvSpPr txBox="1"/>
          <p:nvPr/>
        </p:nvSpPr>
        <p:spPr>
          <a:xfrm>
            <a:off x="2163089" y="2651941"/>
            <a:ext cx="2321703" cy="537845"/>
          </a:xfrm>
          <a:prstGeom prst="rect">
            <a:avLst/>
          </a:prstGeom>
        </p:spPr>
        <p:txBody>
          <a:bodyPr wrap="square" lIns="0" tIns="0" rIns="0" bIns="0" rtlCol="0" anchor="t">
            <a:spAutoFit/>
          </a:bodyPr>
          <a:lstStyle/>
          <a:p>
            <a:pPr algn="ctr">
              <a:lnSpc>
                <a:spcPts val="4480"/>
              </a:lnSpc>
            </a:pPr>
            <a:r>
              <a:rPr lang="en-US" sz="3200" b="1" dirty="0" err="1">
                <a:solidFill>
                  <a:srgbClr val="FFFFFF"/>
                </a:solidFill>
                <a:latin typeface="Open Sans Bold"/>
                <a:ea typeface="Open Sans Bold"/>
                <a:cs typeface="Open Sans Bold"/>
                <a:sym typeface="Open Sans Bold"/>
              </a:rPr>
              <a:t>Nettoyage</a:t>
            </a:r>
            <a:endParaRPr lang="en-US" sz="3200" b="1" dirty="0">
              <a:solidFill>
                <a:srgbClr val="FFFFFF"/>
              </a:solidFill>
              <a:latin typeface="Open Sans Bold"/>
              <a:ea typeface="Open Sans Bold"/>
              <a:cs typeface="Open Sans Bold"/>
              <a:sym typeface="Open Sans Bold"/>
            </a:endParaRPr>
          </a:p>
        </p:txBody>
      </p:sp>
      <p:sp>
        <p:nvSpPr>
          <p:cNvPr id="24" name="TextBox 24"/>
          <p:cNvSpPr txBox="1"/>
          <p:nvPr/>
        </p:nvSpPr>
        <p:spPr>
          <a:xfrm>
            <a:off x="13313378" y="2651941"/>
            <a:ext cx="2636838" cy="537845"/>
          </a:xfrm>
          <a:prstGeom prst="rect">
            <a:avLst/>
          </a:prstGeom>
        </p:spPr>
        <p:txBody>
          <a:bodyPr lIns="0" tIns="0" rIns="0" bIns="0" rtlCol="0" anchor="t">
            <a:spAutoFit/>
          </a:bodyPr>
          <a:lstStyle/>
          <a:p>
            <a:pPr algn="ctr">
              <a:lnSpc>
                <a:spcPts val="4480"/>
              </a:lnSpc>
            </a:pPr>
            <a:r>
              <a:rPr lang="en-US" sz="3200" b="1">
                <a:solidFill>
                  <a:srgbClr val="FFFFFF"/>
                </a:solidFill>
                <a:latin typeface="Open Sans Bold"/>
                <a:ea typeface="Open Sans Bold"/>
                <a:cs typeface="Open Sans Bold"/>
                <a:sym typeface="Open Sans Bold"/>
              </a:rPr>
              <a:t>Tokenisation</a:t>
            </a:r>
          </a:p>
        </p:txBody>
      </p:sp>
      <p:sp>
        <p:nvSpPr>
          <p:cNvPr id="25" name="TextBox 25"/>
          <p:cNvSpPr txBox="1"/>
          <p:nvPr/>
        </p:nvSpPr>
        <p:spPr>
          <a:xfrm>
            <a:off x="1683565" y="6003946"/>
            <a:ext cx="3080345" cy="537845"/>
          </a:xfrm>
          <a:prstGeom prst="rect">
            <a:avLst/>
          </a:prstGeom>
        </p:spPr>
        <p:txBody>
          <a:bodyPr lIns="0" tIns="0" rIns="0" bIns="0" rtlCol="0" anchor="t">
            <a:spAutoFit/>
          </a:bodyPr>
          <a:lstStyle/>
          <a:p>
            <a:pPr algn="ctr">
              <a:lnSpc>
                <a:spcPts val="4480"/>
              </a:lnSpc>
            </a:pPr>
            <a:r>
              <a:rPr lang="en-US" sz="3200" b="1">
                <a:solidFill>
                  <a:srgbClr val="FFFFFF"/>
                </a:solidFill>
                <a:latin typeface="Open Sans Bold"/>
                <a:ea typeface="Open Sans Bold"/>
                <a:cs typeface="Open Sans Bold"/>
                <a:sym typeface="Open Sans Bold"/>
              </a:rPr>
              <a:t>Lemmatisation</a:t>
            </a:r>
          </a:p>
        </p:txBody>
      </p:sp>
      <p:sp>
        <p:nvSpPr>
          <p:cNvPr id="26" name="TextBox 26"/>
          <p:cNvSpPr txBox="1"/>
          <p:nvPr/>
        </p:nvSpPr>
        <p:spPr>
          <a:xfrm>
            <a:off x="13480363" y="6003946"/>
            <a:ext cx="2469853" cy="538737"/>
          </a:xfrm>
          <a:prstGeom prst="rect">
            <a:avLst/>
          </a:prstGeom>
        </p:spPr>
        <p:txBody>
          <a:bodyPr wrap="square" lIns="0" tIns="0" rIns="0" bIns="0" rtlCol="0" anchor="t">
            <a:spAutoFit/>
          </a:bodyPr>
          <a:lstStyle/>
          <a:p>
            <a:pPr algn="ctr">
              <a:lnSpc>
                <a:spcPts val="4480"/>
              </a:lnSpc>
            </a:pPr>
            <a:r>
              <a:rPr lang="en-US" sz="3200" b="1">
                <a:solidFill>
                  <a:srgbClr val="FFFFFF"/>
                </a:solidFill>
                <a:latin typeface="Open Sans Bold"/>
                <a:ea typeface="Open Sans Bold"/>
                <a:cs typeface="Open Sans Bold"/>
                <a:sym typeface="Open Sans Bold"/>
              </a:rPr>
              <a:t>Stop Words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631454" y="5369601"/>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2">
              <a:alphaModFix amt="44999"/>
              <a:extLst>
                <a:ext uri="{96DAC541-7B7A-43D3-8B79-37D633B846F1}">
                  <asvg:svgBlip xmlns:asvg="http://schemas.microsoft.com/office/drawing/2016/SVG/main" r:embed="rId3"/>
                </a:ext>
              </a:extLst>
            </a:blip>
            <a:stretch>
              <a:fillRect/>
            </a:stretch>
          </a:blipFill>
        </p:spPr>
      </p:sp>
      <p:sp>
        <p:nvSpPr>
          <p:cNvPr id="3" name="Freeform 3"/>
          <p:cNvSpPr/>
          <p:nvPr/>
        </p:nvSpPr>
        <p:spPr>
          <a:xfrm>
            <a:off x="5958041" y="4674893"/>
            <a:ext cx="11301259" cy="4619390"/>
          </a:xfrm>
          <a:custGeom>
            <a:avLst/>
            <a:gdLst/>
            <a:ahLst/>
            <a:cxnLst/>
            <a:rect l="l" t="t" r="r" b="b"/>
            <a:pathLst>
              <a:path w="11301259" h="4619390">
                <a:moveTo>
                  <a:pt x="0" y="0"/>
                </a:moveTo>
                <a:lnTo>
                  <a:pt x="11301259" y="0"/>
                </a:lnTo>
                <a:lnTo>
                  <a:pt x="11301259" y="4619389"/>
                </a:lnTo>
                <a:lnTo>
                  <a:pt x="0" y="4619389"/>
                </a:lnTo>
                <a:lnTo>
                  <a:pt x="0" y="0"/>
                </a:lnTo>
                <a:close/>
              </a:path>
            </a:pathLst>
          </a:custGeom>
          <a:blipFill>
            <a:blip r:embed="rId4"/>
            <a:stretch>
              <a:fillRect/>
            </a:stretch>
          </a:blipFill>
        </p:spPr>
      </p:sp>
      <p:sp>
        <p:nvSpPr>
          <p:cNvPr id="4" name="TextBox 4"/>
          <p:cNvSpPr txBox="1"/>
          <p:nvPr/>
        </p:nvSpPr>
        <p:spPr>
          <a:xfrm>
            <a:off x="1028700" y="1171575"/>
            <a:ext cx="5385535"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Etapes clés</a:t>
            </a:r>
          </a:p>
        </p:txBody>
      </p:sp>
      <p:sp>
        <p:nvSpPr>
          <p:cNvPr id="5" name="TextBox 5"/>
          <p:cNvSpPr txBox="1"/>
          <p:nvPr/>
        </p:nvSpPr>
        <p:spPr>
          <a:xfrm>
            <a:off x="1028700" y="2138085"/>
            <a:ext cx="5385535" cy="1122605"/>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Bag of word</a:t>
            </a:r>
          </a:p>
        </p:txBody>
      </p:sp>
      <p:sp>
        <p:nvSpPr>
          <p:cNvPr id="6" name="TextBox 6"/>
          <p:cNvSpPr txBox="1"/>
          <p:nvPr/>
        </p:nvSpPr>
        <p:spPr>
          <a:xfrm>
            <a:off x="7394094" y="1036042"/>
            <a:ext cx="8429153" cy="1861185"/>
          </a:xfrm>
          <a:prstGeom prst="rect">
            <a:avLst/>
          </a:prstGeom>
        </p:spPr>
        <p:txBody>
          <a:bodyPr lIns="0" tIns="0" rIns="0" bIns="0" rtlCol="0" anchor="t">
            <a:spAutoFit/>
          </a:bodyPr>
          <a:lstStyle/>
          <a:p>
            <a:pPr algn="l">
              <a:lnSpc>
                <a:spcPts val="2940"/>
              </a:lnSpc>
              <a:spcBef>
                <a:spcPct val="0"/>
              </a:spcBef>
            </a:pPr>
            <a:r>
              <a:rPr lang="en-US" sz="2100">
                <a:solidFill>
                  <a:srgbClr val="FFFFFF"/>
                </a:solidFill>
                <a:latin typeface="Raleway"/>
                <a:ea typeface="Raleway"/>
                <a:cs typeface="Raleway"/>
                <a:sym typeface="Raleway"/>
              </a:rPr>
              <a:t>Le Bag of Words consiste à compter la fréquence des mots dans un texte, sans tenir compte de l’ordre ou du contexte. Cela permet de représenter simplement un texte sous forme de vecteur utilisable par les modèles, mais avec une compréhension limitée au simple comptage.</a:t>
            </a:r>
          </a:p>
        </p:txBody>
      </p:sp>
      <p:sp>
        <p:nvSpPr>
          <p:cNvPr id="7" name="TextBox 7"/>
          <p:cNvSpPr txBox="1"/>
          <p:nvPr/>
        </p:nvSpPr>
        <p:spPr>
          <a:xfrm>
            <a:off x="1028700" y="4072988"/>
            <a:ext cx="4248504" cy="5785098"/>
          </a:xfrm>
          <a:prstGeom prst="rect">
            <a:avLst/>
          </a:prstGeom>
        </p:spPr>
        <p:txBody>
          <a:bodyPr lIns="0" tIns="0" rIns="0" bIns="0" rtlCol="0" anchor="t">
            <a:spAutoFit/>
          </a:bodyPr>
          <a:lstStyle/>
          <a:p>
            <a:pPr marL="375713" lvl="1" indent="-187856" algn="l">
              <a:lnSpc>
                <a:spcPts val="2436"/>
              </a:lnSpc>
              <a:buFont typeface="Arial"/>
              <a:buChar char="•"/>
            </a:pPr>
            <a:r>
              <a:rPr lang="en-US" sz="1740">
                <a:solidFill>
                  <a:srgbClr val="FFFFFF"/>
                </a:solidFill>
                <a:latin typeface="Raleway"/>
                <a:ea typeface="Raleway"/>
                <a:cs typeface="Raleway"/>
                <a:sym typeface="Raleway"/>
              </a:rPr>
              <a:t>Créer un vocabulaire : recenser tous les mots uniques présents dans les textes.</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Compter les occurrences : pour chaque texte, compter combien de fois chaque mot du vocabulaire apparaît.</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Construire la matrice BoW : Obtenir une matrice où chaque ligne représente un texte et chaque colonne un mot du vocabulaire.</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Utiliser cette matrice comme entrée : entrer cette matrice dans un modèle de classification (par exemple, KMeans, SVM, etc.).</a:t>
            </a:r>
          </a:p>
          <a:p>
            <a:pPr algn="l">
              <a:lnSpc>
                <a:spcPts val="2436"/>
              </a:lnSpc>
              <a:spcBef>
                <a:spcPct val="0"/>
              </a:spcBef>
            </a:pPr>
            <a:endParaRPr lang="en-US" sz="1740">
              <a:solidFill>
                <a:srgbClr val="FFFFFF"/>
              </a:solidFill>
              <a:latin typeface="Raleway"/>
              <a:ea typeface="Raleway"/>
              <a:cs typeface="Raleway"/>
              <a:sym typeface="Raleway"/>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631454" y="5369601"/>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2">
              <a:alphaModFix amt="44999"/>
              <a:extLst>
                <a:ext uri="{96DAC541-7B7A-43D3-8B79-37D633B846F1}">
                  <asvg:svgBlip xmlns:asvg="http://schemas.microsoft.com/office/drawing/2016/SVG/main" r:embed="rId3"/>
                </a:ext>
              </a:extLst>
            </a:blip>
            <a:stretch>
              <a:fillRect/>
            </a:stretch>
          </a:blipFill>
        </p:spPr>
      </p:sp>
      <p:sp>
        <p:nvSpPr>
          <p:cNvPr id="3" name="Freeform 3"/>
          <p:cNvSpPr/>
          <p:nvPr/>
        </p:nvSpPr>
        <p:spPr>
          <a:xfrm>
            <a:off x="5958041" y="4836682"/>
            <a:ext cx="11301259" cy="4421618"/>
          </a:xfrm>
          <a:custGeom>
            <a:avLst/>
            <a:gdLst/>
            <a:ahLst/>
            <a:cxnLst/>
            <a:rect l="l" t="t" r="r" b="b"/>
            <a:pathLst>
              <a:path w="11301259" h="4421618">
                <a:moveTo>
                  <a:pt x="0" y="0"/>
                </a:moveTo>
                <a:lnTo>
                  <a:pt x="11301259" y="0"/>
                </a:lnTo>
                <a:lnTo>
                  <a:pt x="11301259" y="4421618"/>
                </a:lnTo>
                <a:lnTo>
                  <a:pt x="0" y="4421618"/>
                </a:lnTo>
                <a:lnTo>
                  <a:pt x="0" y="0"/>
                </a:lnTo>
                <a:close/>
              </a:path>
            </a:pathLst>
          </a:custGeom>
          <a:blipFill>
            <a:blip r:embed="rId4"/>
            <a:stretch>
              <a:fillRect/>
            </a:stretch>
          </a:blipFill>
        </p:spPr>
      </p:sp>
      <p:sp>
        <p:nvSpPr>
          <p:cNvPr id="4" name="TextBox 4"/>
          <p:cNvSpPr txBox="1"/>
          <p:nvPr/>
        </p:nvSpPr>
        <p:spPr>
          <a:xfrm>
            <a:off x="1028700" y="1171575"/>
            <a:ext cx="5385535"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Etapes clés</a:t>
            </a:r>
          </a:p>
        </p:txBody>
      </p:sp>
      <p:sp>
        <p:nvSpPr>
          <p:cNvPr id="5" name="TextBox 5"/>
          <p:cNvSpPr txBox="1"/>
          <p:nvPr/>
        </p:nvSpPr>
        <p:spPr>
          <a:xfrm>
            <a:off x="1028700" y="2138085"/>
            <a:ext cx="5385535" cy="1122605"/>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tf-idf</a:t>
            </a:r>
          </a:p>
        </p:txBody>
      </p:sp>
      <p:sp>
        <p:nvSpPr>
          <p:cNvPr id="6" name="TextBox 6"/>
          <p:cNvSpPr txBox="1"/>
          <p:nvPr/>
        </p:nvSpPr>
        <p:spPr>
          <a:xfrm>
            <a:off x="7394094" y="1028030"/>
            <a:ext cx="8429153" cy="2232660"/>
          </a:xfrm>
          <a:prstGeom prst="rect">
            <a:avLst/>
          </a:prstGeom>
        </p:spPr>
        <p:txBody>
          <a:bodyPr lIns="0" tIns="0" rIns="0" bIns="0" rtlCol="0" anchor="t">
            <a:spAutoFit/>
          </a:bodyPr>
          <a:lstStyle/>
          <a:p>
            <a:pPr algn="l">
              <a:lnSpc>
                <a:spcPts val="2940"/>
              </a:lnSpc>
            </a:pPr>
            <a:r>
              <a:rPr lang="en-US" sz="2100">
                <a:solidFill>
                  <a:srgbClr val="FFFFFF"/>
                </a:solidFill>
                <a:latin typeface="Raleway"/>
                <a:ea typeface="Raleway"/>
                <a:cs typeface="Raleway"/>
                <a:sym typeface="Raleway"/>
              </a:rPr>
              <a:t>Le TF-IDF (Term Frequency - Inverse Document Frequency) améliore le simple comptage du Bag of Words en valorisant les mots importants d’un texte, tout en réduisant le poids des mots trop fréquents qui n’apportent pas de valeur.</a:t>
            </a:r>
          </a:p>
          <a:p>
            <a:pPr algn="l">
              <a:lnSpc>
                <a:spcPts val="2940"/>
              </a:lnSpc>
              <a:spcBef>
                <a:spcPct val="0"/>
              </a:spcBef>
            </a:pPr>
            <a:r>
              <a:rPr lang="en-US" sz="2100">
                <a:solidFill>
                  <a:srgbClr val="FFFFFF"/>
                </a:solidFill>
                <a:latin typeface="Raleway"/>
                <a:ea typeface="Raleway"/>
                <a:cs typeface="Raleway"/>
                <a:sym typeface="Raleway"/>
              </a:rPr>
              <a:t> Cela permet d’obtenir une représentation plus pertinente, en tenant compte de l’importance d’un mot dans l’ensemble des textes.</a:t>
            </a:r>
          </a:p>
        </p:txBody>
      </p:sp>
      <p:sp>
        <p:nvSpPr>
          <p:cNvPr id="7" name="TextBox 7"/>
          <p:cNvSpPr txBox="1"/>
          <p:nvPr/>
        </p:nvSpPr>
        <p:spPr>
          <a:xfrm>
            <a:off x="1028700" y="3831092"/>
            <a:ext cx="4248504" cy="6394698"/>
          </a:xfrm>
          <a:prstGeom prst="rect">
            <a:avLst/>
          </a:prstGeom>
        </p:spPr>
        <p:txBody>
          <a:bodyPr lIns="0" tIns="0" rIns="0" bIns="0" rtlCol="0" anchor="t">
            <a:spAutoFit/>
          </a:bodyPr>
          <a:lstStyle/>
          <a:p>
            <a:pPr marL="375713" lvl="1" indent="-187856" algn="l">
              <a:lnSpc>
                <a:spcPts val="2436"/>
              </a:lnSpc>
              <a:buFont typeface="Arial"/>
              <a:buChar char="•"/>
            </a:pPr>
            <a:r>
              <a:rPr lang="en-US" sz="1740">
                <a:solidFill>
                  <a:srgbClr val="FFFFFF"/>
                </a:solidFill>
                <a:latin typeface="Raleway"/>
                <a:ea typeface="Raleway"/>
                <a:cs typeface="Raleway"/>
                <a:sym typeface="Raleway"/>
              </a:rPr>
              <a:t>Créer le vocabulaire : lister les mots uniques présents dans l’ensemble des textes.</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Calculer le TF (Term Frequency) : compter la fréquence de chaque mot dans chaque texte.</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Calculer l'IDF (Inverse Document Frequency) : calculer l’importance de chaque mot en fonction du nombre de textes où il apparaît.</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Multiplier TF par IDF : obtenir une pondération finale pour chaque mot.</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Construire la matrice TF-IDF : obtenir une matrice pondérée à utiliser comme entrée pour un modèle de classification.</a:t>
            </a:r>
          </a:p>
          <a:p>
            <a:pPr algn="l">
              <a:lnSpc>
                <a:spcPts val="2436"/>
              </a:lnSpc>
              <a:spcBef>
                <a:spcPct val="0"/>
              </a:spcBef>
            </a:pPr>
            <a:endParaRPr lang="en-US" sz="1740">
              <a:solidFill>
                <a:srgbClr val="FFFFFF"/>
              </a:solidFill>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631454" y="5369601"/>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2">
              <a:alphaModFix amt="44999"/>
              <a:extLst>
                <a:ext uri="{96DAC541-7B7A-43D3-8B79-37D633B846F1}">
                  <asvg:svgBlip xmlns:asvg="http://schemas.microsoft.com/office/drawing/2016/SVG/main" r:embed="rId3"/>
                </a:ext>
              </a:extLst>
            </a:blip>
            <a:stretch>
              <a:fillRect/>
            </a:stretch>
          </a:blipFill>
        </p:spPr>
      </p:sp>
      <p:sp>
        <p:nvSpPr>
          <p:cNvPr id="3" name="Freeform 3"/>
          <p:cNvSpPr/>
          <p:nvPr/>
        </p:nvSpPr>
        <p:spPr>
          <a:xfrm>
            <a:off x="5958041" y="4511771"/>
            <a:ext cx="11301259" cy="4746529"/>
          </a:xfrm>
          <a:custGeom>
            <a:avLst/>
            <a:gdLst/>
            <a:ahLst/>
            <a:cxnLst/>
            <a:rect l="l" t="t" r="r" b="b"/>
            <a:pathLst>
              <a:path w="11301259" h="4746529">
                <a:moveTo>
                  <a:pt x="0" y="0"/>
                </a:moveTo>
                <a:lnTo>
                  <a:pt x="11301259" y="0"/>
                </a:lnTo>
                <a:lnTo>
                  <a:pt x="11301259" y="4746529"/>
                </a:lnTo>
                <a:lnTo>
                  <a:pt x="0" y="4746529"/>
                </a:lnTo>
                <a:lnTo>
                  <a:pt x="0" y="0"/>
                </a:lnTo>
                <a:close/>
              </a:path>
            </a:pathLst>
          </a:custGeom>
          <a:blipFill>
            <a:blip r:embed="rId4"/>
            <a:stretch>
              <a:fillRect/>
            </a:stretch>
          </a:blipFill>
        </p:spPr>
      </p:sp>
      <p:sp>
        <p:nvSpPr>
          <p:cNvPr id="4" name="TextBox 4"/>
          <p:cNvSpPr txBox="1"/>
          <p:nvPr/>
        </p:nvSpPr>
        <p:spPr>
          <a:xfrm>
            <a:off x="1028700" y="1171575"/>
            <a:ext cx="5385535"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Etapes clés</a:t>
            </a:r>
          </a:p>
        </p:txBody>
      </p:sp>
      <p:sp>
        <p:nvSpPr>
          <p:cNvPr id="5" name="TextBox 5"/>
          <p:cNvSpPr txBox="1"/>
          <p:nvPr/>
        </p:nvSpPr>
        <p:spPr>
          <a:xfrm>
            <a:off x="1028700" y="2138085"/>
            <a:ext cx="5385535" cy="1122605"/>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Word2vec</a:t>
            </a:r>
          </a:p>
        </p:txBody>
      </p:sp>
      <p:sp>
        <p:nvSpPr>
          <p:cNvPr id="6" name="TextBox 6"/>
          <p:cNvSpPr txBox="1"/>
          <p:nvPr/>
        </p:nvSpPr>
        <p:spPr>
          <a:xfrm>
            <a:off x="7394094" y="971550"/>
            <a:ext cx="8429153" cy="2975610"/>
          </a:xfrm>
          <a:prstGeom prst="rect">
            <a:avLst/>
          </a:prstGeom>
        </p:spPr>
        <p:txBody>
          <a:bodyPr lIns="0" tIns="0" rIns="0" bIns="0" rtlCol="0" anchor="t">
            <a:spAutoFit/>
          </a:bodyPr>
          <a:lstStyle/>
          <a:p>
            <a:pPr algn="l">
              <a:lnSpc>
                <a:spcPts val="2940"/>
              </a:lnSpc>
            </a:pPr>
            <a:r>
              <a:rPr lang="en-US" sz="2100">
                <a:solidFill>
                  <a:srgbClr val="FFFFFF"/>
                </a:solidFill>
                <a:latin typeface="Raleway"/>
                <a:ea typeface="Raleway"/>
                <a:cs typeface="Raleway"/>
                <a:sym typeface="Raleway"/>
              </a:rPr>
              <a:t>Word2Vec est un modèle qui transforme les mots en vecteurs denses en apprenant à représenter les relations de sens entre les mots.</a:t>
            </a:r>
          </a:p>
          <a:p>
            <a:pPr algn="l">
              <a:lnSpc>
                <a:spcPts val="2940"/>
              </a:lnSpc>
              <a:spcBef>
                <a:spcPct val="0"/>
              </a:spcBef>
            </a:pPr>
            <a:r>
              <a:rPr lang="en-US" sz="2100">
                <a:solidFill>
                  <a:srgbClr val="FFFFFF"/>
                </a:solidFill>
                <a:latin typeface="Raleway"/>
                <a:ea typeface="Raleway"/>
                <a:cs typeface="Raleway"/>
                <a:sym typeface="Raleway"/>
              </a:rPr>
              <a:t> Contrairement au Bag of Words ou TF-IDF, il prend en compte le contexte d’apparition des mots, permettant de capturer des similarités sémantiques (par exemple, "king" et "queen" auront des vecteurs proches).</a:t>
            </a:r>
          </a:p>
          <a:p>
            <a:pPr algn="l">
              <a:lnSpc>
                <a:spcPts val="2940"/>
              </a:lnSpc>
              <a:spcBef>
                <a:spcPct val="0"/>
              </a:spcBef>
            </a:pPr>
            <a:endParaRPr lang="en-US" sz="2100">
              <a:solidFill>
                <a:srgbClr val="FFFFFF"/>
              </a:solidFill>
              <a:latin typeface="Raleway"/>
              <a:ea typeface="Raleway"/>
              <a:cs typeface="Raleway"/>
              <a:sym typeface="Raleway"/>
            </a:endParaRPr>
          </a:p>
        </p:txBody>
      </p:sp>
      <p:sp>
        <p:nvSpPr>
          <p:cNvPr id="7" name="TextBox 7"/>
          <p:cNvSpPr txBox="1"/>
          <p:nvPr/>
        </p:nvSpPr>
        <p:spPr>
          <a:xfrm>
            <a:off x="1028700" y="4125836"/>
            <a:ext cx="4248504" cy="5480298"/>
          </a:xfrm>
          <a:prstGeom prst="rect">
            <a:avLst/>
          </a:prstGeom>
        </p:spPr>
        <p:txBody>
          <a:bodyPr lIns="0" tIns="0" rIns="0" bIns="0" rtlCol="0" anchor="t">
            <a:spAutoFit/>
          </a:bodyPr>
          <a:lstStyle/>
          <a:p>
            <a:pPr marL="375713" lvl="1" indent="-187856" algn="l">
              <a:lnSpc>
                <a:spcPts val="2436"/>
              </a:lnSpc>
              <a:buFont typeface="Arial"/>
              <a:buChar char="•"/>
            </a:pPr>
            <a:r>
              <a:rPr lang="en-US" sz="1740">
                <a:solidFill>
                  <a:srgbClr val="FFFFFF"/>
                </a:solidFill>
                <a:latin typeface="Raleway"/>
                <a:ea typeface="Raleway"/>
                <a:cs typeface="Raleway"/>
                <a:sym typeface="Raleway"/>
              </a:rPr>
              <a:t>Former ou utiliser un modèle Word2Vec : créer un modèle Word2Vec sur vos données,</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Obtenir les vecteurs de mots : transformer chaque mot en vecteur en utilisant le modèle Word2Vec.</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Construire des vecteurs de texte : moyenne ou combinaison des vecteurs des mots d’un texte pour en faire une représentation globale du texte.</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Utiliser ces vecteurs comme entrée : injecter ces représentations dans un modèle de classification.</a:t>
            </a:r>
          </a:p>
          <a:p>
            <a:pPr algn="l">
              <a:lnSpc>
                <a:spcPts val="2436"/>
              </a:lnSpc>
              <a:spcBef>
                <a:spcPct val="0"/>
              </a:spcBef>
            </a:pPr>
            <a:endParaRPr lang="en-US" sz="1740">
              <a:solidFill>
                <a:srgbClr val="FFFFFF"/>
              </a:solidFill>
              <a:latin typeface="Raleway"/>
              <a:ea typeface="Raleway"/>
              <a:cs typeface="Raleway"/>
              <a:sym typeface="Ralewa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631454" y="5369601"/>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2">
              <a:alphaModFix amt="44999"/>
              <a:extLst>
                <a:ext uri="{96DAC541-7B7A-43D3-8B79-37D633B846F1}">
                  <asvg:svgBlip xmlns:asvg="http://schemas.microsoft.com/office/drawing/2016/SVG/main" r:embed="rId3"/>
                </a:ext>
              </a:extLst>
            </a:blip>
            <a:stretch>
              <a:fillRect/>
            </a:stretch>
          </a:blipFill>
        </p:spPr>
      </p:sp>
      <p:sp>
        <p:nvSpPr>
          <p:cNvPr id="3" name="Freeform 3"/>
          <p:cNvSpPr/>
          <p:nvPr/>
        </p:nvSpPr>
        <p:spPr>
          <a:xfrm>
            <a:off x="5958041" y="4427012"/>
            <a:ext cx="11301259" cy="4831288"/>
          </a:xfrm>
          <a:custGeom>
            <a:avLst/>
            <a:gdLst/>
            <a:ahLst/>
            <a:cxnLst/>
            <a:rect l="l" t="t" r="r" b="b"/>
            <a:pathLst>
              <a:path w="11301259" h="4831288">
                <a:moveTo>
                  <a:pt x="0" y="0"/>
                </a:moveTo>
                <a:lnTo>
                  <a:pt x="11301259" y="0"/>
                </a:lnTo>
                <a:lnTo>
                  <a:pt x="11301259" y="4831288"/>
                </a:lnTo>
                <a:lnTo>
                  <a:pt x="0" y="4831288"/>
                </a:lnTo>
                <a:lnTo>
                  <a:pt x="0" y="0"/>
                </a:lnTo>
                <a:close/>
              </a:path>
            </a:pathLst>
          </a:custGeom>
          <a:blipFill>
            <a:blip r:embed="rId4"/>
            <a:stretch>
              <a:fillRect/>
            </a:stretch>
          </a:blipFill>
        </p:spPr>
      </p:sp>
      <p:sp>
        <p:nvSpPr>
          <p:cNvPr id="4" name="TextBox 4"/>
          <p:cNvSpPr txBox="1"/>
          <p:nvPr/>
        </p:nvSpPr>
        <p:spPr>
          <a:xfrm>
            <a:off x="1028700" y="1171575"/>
            <a:ext cx="5385535"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Etapes clés</a:t>
            </a:r>
          </a:p>
        </p:txBody>
      </p:sp>
      <p:sp>
        <p:nvSpPr>
          <p:cNvPr id="5" name="TextBox 5"/>
          <p:cNvSpPr txBox="1"/>
          <p:nvPr/>
        </p:nvSpPr>
        <p:spPr>
          <a:xfrm>
            <a:off x="1028700" y="2138085"/>
            <a:ext cx="5385535" cy="1122605"/>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BERT</a:t>
            </a:r>
          </a:p>
        </p:txBody>
      </p:sp>
      <p:sp>
        <p:nvSpPr>
          <p:cNvPr id="6" name="TextBox 6"/>
          <p:cNvSpPr txBox="1"/>
          <p:nvPr/>
        </p:nvSpPr>
        <p:spPr>
          <a:xfrm>
            <a:off x="7394094" y="1028030"/>
            <a:ext cx="8429153" cy="2232660"/>
          </a:xfrm>
          <a:prstGeom prst="rect">
            <a:avLst/>
          </a:prstGeom>
        </p:spPr>
        <p:txBody>
          <a:bodyPr lIns="0" tIns="0" rIns="0" bIns="0" rtlCol="0" anchor="t">
            <a:spAutoFit/>
          </a:bodyPr>
          <a:lstStyle/>
          <a:p>
            <a:pPr algn="l">
              <a:lnSpc>
                <a:spcPts val="2940"/>
              </a:lnSpc>
            </a:pPr>
            <a:r>
              <a:rPr lang="en-US" sz="2100">
                <a:solidFill>
                  <a:srgbClr val="FFFFFF"/>
                </a:solidFill>
                <a:latin typeface="Raleway"/>
                <a:ea typeface="Raleway"/>
                <a:cs typeface="Raleway"/>
                <a:sym typeface="Raleway"/>
              </a:rPr>
              <a:t>BERT est un modèle avancé de traitement du langage qui comprend les mots dans leur contexte grâce à une architecture appelée Transformers.</a:t>
            </a:r>
          </a:p>
          <a:p>
            <a:pPr algn="l">
              <a:lnSpc>
                <a:spcPts val="2940"/>
              </a:lnSpc>
              <a:spcBef>
                <a:spcPct val="0"/>
              </a:spcBef>
            </a:pPr>
            <a:r>
              <a:rPr lang="en-US" sz="2100">
                <a:solidFill>
                  <a:srgbClr val="FFFFFF"/>
                </a:solidFill>
                <a:latin typeface="Raleway"/>
                <a:ea typeface="Raleway"/>
                <a:cs typeface="Raleway"/>
                <a:sym typeface="Raleway"/>
              </a:rPr>
              <a:t> Il produit des vecteurs qui tiennent compte de l’ensemble de la phrase, ce qui le rend particulièrement performant pour comprendre le sens global des descriptions.</a:t>
            </a:r>
          </a:p>
        </p:txBody>
      </p:sp>
      <p:sp>
        <p:nvSpPr>
          <p:cNvPr id="7" name="TextBox 7"/>
          <p:cNvSpPr txBox="1"/>
          <p:nvPr/>
        </p:nvSpPr>
        <p:spPr>
          <a:xfrm>
            <a:off x="1028700" y="3778657"/>
            <a:ext cx="4248504" cy="6089898"/>
          </a:xfrm>
          <a:prstGeom prst="rect">
            <a:avLst/>
          </a:prstGeom>
        </p:spPr>
        <p:txBody>
          <a:bodyPr lIns="0" tIns="0" rIns="0" bIns="0" rtlCol="0" anchor="t">
            <a:spAutoFit/>
          </a:bodyPr>
          <a:lstStyle/>
          <a:p>
            <a:pPr marL="375713" lvl="1" indent="-187856" algn="l">
              <a:lnSpc>
                <a:spcPts val="2436"/>
              </a:lnSpc>
              <a:buFont typeface="Arial"/>
              <a:buChar char="•"/>
            </a:pPr>
            <a:r>
              <a:rPr lang="en-US" sz="1740">
                <a:solidFill>
                  <a:srgbClr val="FFFFFF"/>
                </a:solidFill>
                <a:latin typeface="Raleway"/>
                <a:ea typeface="Raleway"/>
                <a:cs typeface="Raleway"/>
                <a:sym typeface="Raleway"/>
              </a:rPr>
              <a:t>Charger un modèle BERT pré-entraîné : par exemple, bert-base-uncased via Hugging Face Transformers.</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Tokeniser les textes avec le tokenizer BERT : convertir les phrases en tokens adaptés au modèle.</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Générer les vecteurs d’embedding : extraire les représentations vectorielles des phrases (généralement la sortie de la couche [CLS]).</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Utiliser ces vecteurs comme entrée : injecter les vecteurs dans un modèle de classification.</a:t>
            </a:r>
          </a:p>
          <a:p>
            <a:pPr algn="l">
              <a:lnSpc>
                <a:spcPts val="2436"/>
              </a:lnSpc>
            </a:pPr>
            <a:endParaRPr lang="en-US" sz="1740">
              <a:solidFill>
                <a:srgbClr val="FFFFFF"/>
              </a:solidFill>
              <a:latin typeface="Raleway"/>
              <a:ea typeface="Raleway"/>
              <a:cs typeface="Raleway"/>
              <a:sym typeface="Raleway"/>
            </a:endParaRPr>
          </a:p>
          <a:p>
            <a:pPr algn="l">
              <a:lnSpc>
                <a:spcPts val="2436"/>
              </a:lnSpc>
              <a:spcBef>
                <a:spcPct val="0"/>
              </a:spcBef>
            </a:pPr>
            <a:endParaRPr lang="en-US" sz="1740">
              <a:solidFill>
                <a:srgbClr val="FFFFFF"/>
              </a:solidFill>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631454" y="5369601"/>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2">
              <a:alphaModFix amt="44999"/>
              <a:extLst>
                <a:ext uri="{96DAC541-7B7A-43D3-8B79-37D633B846F1}">
                  <asvg:svgBlip xmlns:asvg="http://schemas.microsoft.com/office/drawing/2016/SVG/main" r:embed="rId3"/>
                </a:ext>
              </a:extLst>
            </a:blip>
            <a:stretch>
              <a:fillRect/>
            </a:stretch>
          </a:blipFill>
        </p:spPr>
      </p:sp>
      <p:sp>
        <p:nvSpPr>
          <p:cNvPr id="3" name="Freeform 3"/>
          <p:cNvSpPr/>
          <p:nvPr/>
        </p:nvSpPr>
        <p:spPr>
          <a:xfrm>
            <a:off x="5958041" y="4427012"/>
            <a:ext cx="11301259" cy="4831288"/>
          </a:xfrm>
          <a:custGeom>
            <a:avLst/>
            <a:gdLst/>
            <a:ahLst/>
            <a:cxnLst/>
            <a:rect l="l" t="t" r="r" b="b"/>
            <a:pathLst>
              <a:path w="11301259" h="4831288">
                <a:moveTo>
                  <a:pt x="0" y="0"/>
                </a:moveTo>
                <a:lnTo>
                  <a:pt x="11301259" y="0"/>
                </a:lnTo>
                <a:lnTo>
                  <a:pt x="11301259" y="4831288"/>
                </a:lnTo>
                <a:lnTo>
                  <a:pt x="0" y="4831288"/>
                </a:lnTo>
                <a:lnTo>
                  <a:pt x="0" y="0"/>
                </a:lnTo>
                <a:close/>
              </a:path>
            </a:pathLst>
          </a:custGeom>
          <a:blipFill>
            <a:blip r:embed="rId4"/>
            <a:stretch>
              <a:fillRect/>
            </a:stretch>
          </a:blipFill>
        </p:spPr>
      </p:sp>
      <p:sp>
        <p:nvSpPr>
          <p:cNvPr id="4" name="TextBox 4"/>
          <p:cNvSpPr txBox="1"/>
          <p:nvPr/>
        </p:nvSpPr>
        <p:spPr>
          <a:xfrm>
            <a:off x="1028700" y="1171575"/>
            <a:ext cx="5385535"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Etapes clés</a:t>
            </a:r>
          </a:p>
        </p:txBody>
      </p:sp>
      <p:sp>
        <p:nvSpPr>
          <p:cNvPr id="5" name="TextBox 5"/>
          <p:cNvSpPr txBox="1"/>
          <p:nvPr/>
        </p:nvSpPr>
        <p:spPr>
          <a:xfrm>
            <a:off x="1028700" y="2138085"/>
            <a:ext cx="5385535" cy="1122605"/>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USE</a:t>
            </a:r>
          </a:p>
        </p:txBody>
      </p:sp>
      <p:sp>
        <p:nvSpPr>
          <p:cNvPr id="6" name="TextBox 6"/>
          <p:cNvSpPr txBox="1"/>
          <p:nvPr/>
        </p:nvSpPr>
        <p:spPr>
          <a:xfrm>
            <a:off x="7394094" y="1028030"/>
            <a:ext cx="8429153" cy="2232660"/>
          </a:xfrm>
          <a:prstGeom prst="rect">
            <a:avLst/>
          </a:prstGeom>
        </p:spPr>
        <p:txBody>
          <a:bodyPr lIns="0" tIns="0" rIns="0" bIns="0" rtlCol="0" anchor="t">
            <a:spAutoFit/>
          </a:bodyPr>
          <a:lstStyle/>
          <a:p>
            <a:pPr algn="l">
              <a:lnSpc>
                <a:spcPts val="2940"/>
              </a:lnSpc>
            </a:pPr>
            <a:r>
              <a:rPr lang="en-US" sz="2100">
                <a:solidFill>
                  <a:srgbClr val="FFFFFF"/>
                </a:solidFill>
                <a:latin typeface="Raleway"/>
                <a:ea typeface="Raleway"/>
                <a:cs typeface="Raleway"/>
                <a:sym typeface="Raleway"/>
              </a:rPr>
              <a:t>USE (Universal Sentence Encoder) est un modèle développé par Google qui permet de transformer une phrase entière en un vecteur en capturant son sens global.</a:t>
            </a:r>
          </a:p>
          <a:p>
            <a:pPr algn="l">
              <a:lnSpc>
                <a:spcPts val="2940"/>
              </a:lnSpc>
              <a:spcBef>
                <a:spcPct val="0"/>
              </a:spcBef>
            </a:pPr>
            <a:r>
              <a:rPr lang="en-US" sz="2100">
                <a:solidFill>
                  <a:srgbClr val="FFFFFF"/>
                </a:solidFill>
                <a:latin typeface="Raleway"/>
                <a:ea typeface="Raleway"/>
                <a:cs typeface="Raleway"/>
                <a:sym typeface="Raleway"/>
              </a:rPr>
              <a:t> Contrairement à Word2Vec qui travaille sur les mots, USE est spécialisé dans les phrases et les textes courts, offrant une représentation rapide et efficace.</a:t>
            </a:r>
          </a:p>
        </p:txBody>
      </p:sp>
      <p:sp>
        <p:nvSpPr>
          <p:cNvPr id="7" name="TextBox 7"/>
          <p:cNvSpPr txBox="1"/>
          <p:nvPr/>
        </p:nvSpPr>
        <p:spPr>
          <a:xfrm>
            <a:off x="1028700" y="5150257"/>
            <a:ext cx="4248504" cy="3346698"/>
          </a:xfrm>
          <a:prstGeom prst="rect">
            <a:avLst/>
          </a:prstGeom>
        </p:spPr>
        <p:txBody>
          <a:bodyPr lIns="0" tIns="0" rIns="0" bIns="0" rtlCol="0" anchor="t">
            <a:spAutoFit/>
          </a:bodyPr>
          <a:lstStyle/>
          <a:p>
            <a:pPr marL="375713" lvl="1" indent="-187856" algn="l">
              <a:lnSpc>
                <a:spcPts val="2436"/>
              </a:lnSpc>
              <a:buFont typeface="Arial"/>
              <a:buChar char="•"/>
            </a:pPr>
            <a:r>
              <a:rPr lang="en-US" sz="1740">
                <a:solidFill>
                  <a:srgbClr val="FFFFFF"/>
                </a:solidFill>
                <a:latin typeface="Raleway"/>
                <a:ea typeface="Raleway"/>
                <a:cs typeface="Raleway"/>
                <a:sym typeface="Raleway"/>
              </a:rPr>
              <a:t>Charger le modèle USE pré-entraîné : disponible via TensorFlow Hub.</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Encoder les phrases : transformer chaque description ou titre en vecteur unique.</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Utiliser ces vecteurs comme entrée : injecter les vecteurs dans un modèle de classification.</a:t>
            </a:r>
          </a:p>
          <a:p>
            <a:pPr algn="l">
              <a:lnSpc>
                <a:spcPts val="2436"/>
              </a:lnSpc>
              <a:spcBef>
                <a:spcPct val="0"/>
              </a:spcBef>
            </a:pPr>
            <a:endParaRPr lang="en-US" sz="1740">
              <a:solidFill>
                <a:srgbClr val="FFFFFF"/>
              </a:solidFill>
              <a:latin typeface="Raleway"/>
              <a:ea typeface="Raleway"/>
              <a:cs typeface="Raleway"/>
              <a:sym typeface="Raleway"/>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58188" y="7180569"/>
            <a:ext cx="5034668" cy="2810260"/>
          </a:xfrm>
          <a:custGeom>
            <a:avLst/>
            <a:gdLst/>
            <a:ahLst/>
            <a:cxnLst/>
            <a:rect l="l" t="t" r="r" b="b"/>
            <a:pathLst>
              <a:path w="5034668" h="2810260">
                <a:moveTo>
                  <a:pt x="0" y="0"/>
                </a:moveTo>
                <a:lnTo>
                  <a:pt x="5034668" y="0"/>
                </a:lnTo>
                <a:lnTo>
                  <a:pt x="5034668" y="2810261"/>
                </a:lnTo>
                <a:lnTo>
                  <a:pt x="0" y="28102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54938" y="3738608"/>
            <a:ext cx="2843806" cy="1587361"/>
          </a:xfrm>
          <a:custGeom>
            <a:avLst/>
            <a:gdLst/>
            <a:ahLst/>
            <a:cxnLst/>
            <a:rect l="l" t="t" r="r" b="b"/>
            <a:pathLst>
              <a:path w="2843806" h="1587361">
                <a:moveTo>
                  <a:pt x="0" y="0"/>
                </a:moveTo>
                <a:lnTo>
                  <a:pt x="2843806" y="0"/>
                </a:lnTo>
                <a:lnTo>
                  <a:pt x="2843806" y="1587361"/>
                </a:lnTo>
                <a:lnTo>
                  <a:pt x="0" y="15873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6556207" y="2318227"/>
            <a:ext cx="5175586" cy="6015484"/>
          </a:xfrm>
          <a:custGeom>
            <a:avLst/>
            <a:gdLst/>
            <a:ahLst/>
            <a:cxnLst/>
            <a:rect l="l" t="t" r="r" b="b"/>
            <a:pathLst>
              <a:path w="5175586" h="6015484">
                <a:moveTo>
                  <a:pt x="0" y="0"/>
                </a:moveTo>
                <a:lnTo>
                  <a:pt x="5175586" y="0"/>
                </a:lnTo>
                <a:lnTo>
                  <a:pt x="5175586" y="6015484"/>
                </a:lnTo>
                <a:lnTo>
                  <a:pt x="0" y="6015484"/>
                </a:lnTo>
                <a:lnTo>
                  <a:pt x="0" y="0"/>
                </a:lnTo>
                <a:close/>
              </a:path>
            </a:pathLst>
          </a:custGeom>
          <a:blipFill>
            <a:blip r:embed="rId6"/>
            <a:stretch>
              <a:fillRect/>
            </a:stretch>
          </a:blipFill>
        </p:spPr>
      </p:sp>
      <p:sp>
        <p:nvSpPr>
          <p:cNvPr id="5" name="TextBox 5"/>
          <p:cNvSpPr txBox="1"/>
          <p:nvPr/>
        </p:nvSpPr>
        <p:spPr>
          <a:xfrm>
            <a:off x="7827450" y="1171575"/>
            <a:ext cx="2633099" cy="112878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Résumé</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6451232" y="1171575"/>
            <a:ext cx="5385535" cy="1128784"/>
          </a:xfrm>
          <a:prstGeom prst="rect">
            <a:avLst/>
          </a:prstGeom>
        </p:spPr>
        <p:txBody>
          <a:bodyPr lIns="0" tIns="0" rIns="0" bIns="0" rtlCol="0" anchor="t">
            <a:spAutoFit/>
          </a:bodyPr>
          <a:lstStyle/>
          <a:p>
            <a:pPr algn="ctr">
              <a:lnSpc>
                <a:spcPts val="8315"/>
              </a:lnSpc>
            </a:pPr>
            <a:r>
              <a:rPr lang="en-US" sz="8315" b="1">
                <a:solidFill>
                  <a:srgbClr val="FFFFFF"/>
                </a:solidFill>
                <a:latin typeface="Bebas Neue Bold"/>
                <a:ea typeface="Bebas Neue Bold"/>
                <a:cs typeface="Bebas Neue Bold"/>
                <a:sym typeface="Bebas Neue Bold"/>
              </a:rPr>
              <a:t>Plan</a:t>
            </a:r>
          </a:p>
        </p:txBody>
      </p:sp>
      <p:sp>
        <p:nvSpPr>
          <p:cNvPr id="3" name="TextBox 3"/>
          <p:cNvSpPr txBox="1"/>
          <p:nvPr/>
        </p:nvSpPr>
        <p:spPr>
          <a:xfrm>
            <a:off x="3816491" y="2138085"/>
            <a:ext cx="10655017" cy="1128786"/>
          </a:xfrm>
          <a:prstGeom prst="rect">
            <a:avLst/>
          </a:prstGeom>
        </p:spPr>
        <p:txBody>
          <a:bodyPr lIns="0" tIns="0" rIns="0" bIns="0" rtlCol="0" anchor="t">
            <a:spAutoFit/>
          </a:bodyPr>
          <a:lstStyle/>
          <a:p>
            <a:pPr algn="ctr">
              <a:lnSpc>
                <a:spcPts val="8315"/>
              </a:lnSpc>
            </a:pPr>
            <a:r>
              <a:rPr lang="en-US" sz="8315" b="1">
                <a:solidFill>
                  <a:srgbClr val="D563A1"/>
                </a:solidFill>
                <a:latin typeface="Bebas Neue Bold"/>
                <a:ea typeface="Bebas Neue Bold"/>
                <a:cs typeface="Bebas Neue Bold"/>
                <a:sym typeface="Bebas Neue Bold"/>
              </a:rPr>
              <a:t>Traitement d’images</a:t>
            </a:r>
          </a:p>
        </p:txBody>
      </p:sp>
      <p:sp>
        <p:nvSpPr>
          <p:cNvPr id="4" name="Freeform 4"/>
          <p:cNvSpPr/>
          <p:nvPr/>
        </p:nvSpPr>
        <p:spPr>
          <a:xfrm>
            <a:off x="1540604" y="4957011"/>
            <a:ext cx="674722" cy="674722"/>
          </a:xfrm>
          <a:custGeom>
            <a:avLst/>
            <a:gdLst/>
            <a:ahLst/>
            <a:cxnLst/>
            <a:rect l="l" t="t" r="r" b="b"/>
            <a:pathLst>
              <a:path w="674722" h="674722">
                <a:moveTo>
                  <a:pt x="0" y="0"/>
                </a:moveTo>
                <a:lnTo>
                  <a:pt x="674723" y="0"/>
                </a:lnTo>
                <a:lnTo>
                  <a:pt x="674723" y="674723"/>
                </a:lnTo>
                <a:lnTo>
                  <a:pt x="0" y="6747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2557881" y="4812556"/>
            <a:ext cx="3370224" cy="5204460"/>
          </a:xfrm>
          <a:prstGeom prst="rect">
            <a:avLst/>
          </a:prstGeom>
        </p:spPr>
        <p:txBody>
          <a:bodyPr lIns="0" tIns="0" rIns="0" bIns="0" rtlCol="0" anchor="t">
            <a:spAutoFit/>
          </a:bodyPr>
          <a:lstStyle/>
          <a:p>
            <a:pPr algn="l">
              <a:lnSpc>
                <a:spcPts val="2940"/>
              </a:lnSpc>
            </a:pPr>
            <a:r>
              <a:rPr lang="en-US" sz="2100">
                <a:solidFill>
                  <a:srgbClr val="FFFFFF"/>
                </a:solidFill>
                <a:latin typeface="Raleway"/>
                <a:ea typeface="Raleway"/>
                <a:cs typeface="Raleway"/>
                <a:sym typeface="Raleway"/>
              </a:rPr>
              <a:t>Avant d’utiliser les images, il est essentiel de les préparer pour les rendre exploitables.</a:t>
            </a:r>
          </a:p>
          <a:p>
            <a:pPr algn="l">
              <a:lnSpc>
                <a:spcPts val="2940"/>
              </a:lnSpc>
            </a:pPr>
            <a:r>
              <a:rPr lang="en-US" sz="2100">
                <a:solidFill>
                  <a:srgbClr val="FFFFFF"/>
                </a:solidFill>
                <a:latin typeface="Raleway"/>
                <a:ea typeface="Raleway"/>
                <a:cs typeface="Raleway"/>
                <a:sym typeface="Raleway"/>
              </a:rPr>
              <a:t> Cette préparation passe par le redimensionnement, la conversion en niveaux de gris si nécessaire, et la normalisation des pixels.</a:t>
            </a:r>
          </a:p>
          <a:p>
            <a:pPr algn="l">
              <a:lnSpc>
                <a:spcPts val="2940"/>
              </a:lnSpc>
              <a:spcBef>
                <a:spcPct val="0"/>
              </a:spcBef>
            </a:pPr>
            <a:r>
              <a:rPr lang="en-US" sz="2100">
                <a:solidFill>
                  <a:srgbClr val="FFFFFF"/>
                </a:solidFill>
                <a:latin typeface="Raleway"/>
                <a:ea typeface="Raleway"/>
                <a:cs typeface="Raleway"/>
                <a:sym typeface="Raleway"/>
              </a:rPr>
              <a:t> Ces étapes garantissent des images cohérentes et prêtes à être analysées efficacement par les modèles.</a:t>
            </a:r>
          </a:p>
        </p:txBody>
      </p:sp>
      <p:sp>
        <p:nvSpPr>
          <p:cNvPr id="6" name="Freeform 6"/>
          <p:cNvSpPr/>
          <p:nvPr/>
        </p:nvSpPr>
        <p:spPr>
          <a:xfrm>
            <a:off x="6832980" y="4957011"/>
            <a:ext cx="674722" cy="674722"/>
          </a:xfrm>
          <a:custGeom>
            <a:avLst/>
            <a:gdLst/>
            <a:ahLst/>
            <a:cxnLst/>
            <a:rect l="l" t="t" r="r" b="b"/>
            <a:pathLst>
              <a:path w="674722" h="674722">
                <a:moveTo>
                  <a:pt x="0" y="0"/>
                </a:moveTo>
                <a:lnTo>
                  <a:pt x="674722" y="0"/>
                </a:lnTo>
                <a:lnTo>
                  <a:pt x="674722" y="674723"/>
                </a:lnTo>
                <a:lnTo>
                  <a:pt x="0" y="6747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7850256" y="4812556"/>
            <a:ext cx="3249511" cy="4832985"/>
          </a:xfrm>
          <a:prstGeom prst="rect">
            <a:avLst/>
          </a:prstGeom>
        </p:spPr>
        <p:txBody>
          <a:bodyPr lIns="0" tIns="0" rIns="0" bIns="0" rtlCol="0" anchor="t">
            <a:spAutoFit/>
          </a:bodyPr>
          <a:lstStyle/>
          <a:p>
            <a:pPr algn="l">
              <a:lnSpc>
                <a:spcPts val="2940"/>
              </a:lnSpc>
            </a:pPr>
            <a:r>
              <a:rPr lang="en-US" sz="2100">
                <a:solidFill>
                  <a:srgbClr val="FFFFFF"/>
                </a:solidFill>
                <a:latin typeface="Raleway"/>
                <a:ea typeface="Raleway"/>
                <a:cs typeface="Raleway"/>
                <a:sym typeface="Raleway"/>
              </a:rPr>
              <a:t>Une première approche consiste à utiliser des méthodes classiques comme SIFT, qui extrait les motifs visuels des images.</a:t>
            </a:r>
          </a:p>
          <a:p>
            <a:pPr algn="l">
              <a:lnSpc>
                <a:spcPts val="2940"/>
              </a:lnSpc>
              <a:spcBef>
                <a:spcPct val="0"/>
              </a:spcBef>
            </a:pPr>
            <a:r>
              <a:rPr lang="en-US" sz="2100">
                <a:solidFill>
                  <a:srgbClr val="FFFFFF"/>
                </a:solidFill>
                <a:latin typeface="Raleway"/>
                <a:ea typeface="Raleway"/>
                <a:cs typeface="Raleway"/>
                <a:sym typeface="Raleway"/>
              </a:rPr>
              <a:t> Ces motifs sont ensuite regroupés en Bag of Visual Words, une représentation simple permettant de classer les images sans deep learning.</a:t>
            </a:r>
          </a:p>
        </p:txBody>
      </p:sp>
      <p:sp>
        <p:nvSpPr>
          <p:cNvPr id="8" name="Freeform 8"/>
          <p:cNvSpPr/>
          <p:nvPr/>
        </p:nvSpPr>
        <p:spPr>
          <a:xfrm>
            <a:off x="12624851" y="4957011"/>
            <a:ext cx="674722" cy="674722"/>
          </a:xfrm>
          <a:custGeom>
            <a:avLst/>
            <a:gdLst/>
            <a:ahLst/>
            <a:cxnLst/>
            <a:rect l="l" t="t" r="r" b="b"/>
            <a:pathLst>
              <a:path w="674722" h="674722">
                <a:moveTo>
                  <a:pt x="0" y="0"/>
                </a:moveTo>
                <a:lnTo>
                  <a:pt x="674723" y="0"/>
                </a:lnTo>
                <a:lnTo>
                  <a:pt x="674723" y="674723"/>
                </a:lnTo>
                <a:lnTo>
                  <a:pt x="0" y="6747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3642127" y="4812556"/>
            <a:ext cx="3249511" cy="5204460"/>
          </a:xfrm>
          <a:prstGeom prst="rect">
            <a:avLst/>
          </a:prstGeom>
        </p:spPr>
        <p:txBody>
          <a:bodyPr lIns="0" tIns="0" rIns="0" bIns="0" rtlCol="0" anchor="t">
            <a:spAutoFit/>
          </a:bodyPr>
          <a:lstStyle/>
          <a:p>
            <a:pPr algn="l">
              <a:lnSpc>
                <a:spcPts val="2940"/>
              </a:lnSpc>
            </a:pPr>
            <a:r>
              <a:rPr lang="en-US" sz="2100">
                <a:solidFill>
                  <a:srgbClr val="FFFFFF"/>
                </a:solidFill>
                <a:latin typeface="Raleway"/>
                <a:ea typeface="Raleway"/>
                <a:cs typeface="Raleway"/>
                <a:sym typeface="Raleway"/>
              </a:rPr>
              <a:t>Une autre approche plus avancée consiste à utiliser des modèles CNN pré-entraînés comme VGG16, capables d’analyser automatiquement les formes, textures et objets dans les images.</a:t>
            </a:r>
          </a:p>
          <a:p>
            <a:pPr algn="l">
              <a:lnSpc>
                <a:spcPts val="2940"/>
              </a:lnSpc>
              <a:spcBef>
                <a:spcPct val="0"/>
              </a:spcBef>
            </a:pPr>
            <a:r>
              <a:rPr lang="en-US" sz="2100">
                <a:solidFill>
                  <a:srgbClr val="FFFFFF"/>
                </a:solidFill>
                <a:latin typeface="Raleway"/>
                <a:ea typeface="Raleway"/>
                <a:cs typeface="Raleway"/>
                <a:sym typeface="Raleway"/>
              </a:rPr>
              <a:t> Ces modèles apprennent à extraire les bonnes caractéristiques pour améliorer la performance de classification, même sur des images variées.</a:t>
            </a:r>
          </a:p>
        </p:txBody>
      </p:sp>
      <p:sp>
        <p:nvSpPr>
          <p:cNvPr id="10" name="Freeform 10"/>
          <p:cNvSpPr/>
          <p:nvPr/>
        </p:nvSpPr>
        <p:spPr>
          <a:xfrm>
            <a:off x="14865004" y="-208218"/>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4">
              <a:alphaModFix amt="44999"/>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2557881" y="4039396"/>
            <a:ext cx="2127349" cy="481330"/>
          </a:xfrm>
          <a:prstGeom prst="rect">
            <a:avLst/>
          </a:prstGeom>
        </p:spPr>
        <p:txBody>
          <a:bodyPr lIns="0" tIns="0" rIns="0" bIns="0" rtlCol="0" anchor="t">
            <a:spAutoFit/>
          </a:bodyPr>
          <a:lstStyle/>
          <a:p>
            <a:pPr algn="ctr">
              <a:lnSpc>
                <a:spcPts val="3919"/>
              </a:lnSpc>
            </a:pPr>
            <a:r>
              <a:rPr lang="en-US" sz="2799" b="1">
                <a:solidFill>
                  <a:srgbClr val="FFFFFF"/>
                </a:solidFill>
                <a:latin typeface="Open Sans Bold"/>
                <a:ea typeface="Open Sans Bold"/>
                <a:cs typeface="Open Sans Bold"/>
                <a:sym typeface="Open Sans Bold"/>
              </a:rPr>
              <a:t>Préparation</a:t>
            </a:r>
          </a:p>
        </p:txBody>
      </p:sp>
      <p:sp>
        <p:nvSpPr>
          <p:cNvPr id="12" name="TextBox 12"/>
          <p:cNvSpPr txBox="1"/>
          <p:nvPr/>
        </p:nvSpPr>
        <p:spPr>
          <a:xfrm>
            <a:off x="7850256" y="4039396"/>
            <a:ext cx="3391495" cy="481330"/>
          </a:xfrm>
          <a:prstGeom prst="rect">
            <a:avLst/>
          </a:prstGeom>
        </p:spPr>
        <p:txBody>
          <a:bodyPr lIns="0" tIns="0" rIns="0" bIns="0" rtlCol="0" anchor="t">
            <a:spAutoFit/>
          </a:bodyPr>
          <a:lstStyle/>
          <a:p>
            <a:pPr algn="ctr">
              <a:lnSpc>
                <a:spcPts val="3919"/>
              </a:lnSpc>
            </a:pPr>
            <a:r>
              <a:rPr lang="en-US" sz="2799" b="1">
                <a:solidFill>
                  <a:srgbClr val="FFFFFF"/>
                </a:solidFill>
                <a:latin typeface="Open Sans Bold"/>
                <a:ea typeface="Open Sans Bold"/>
                <a:cs typeface="Open Sans Bold"/>
                <a:sym typeface="Open Sans Bold"/>
              </a:rPr>
              <a:t>Modèles classiques</a:t>
            </a:r>
          </a:p>
        </p:txBody>
      </p:sp>
      <p:sp>
        <p:nvSpPr>
          <p:cNvPr id="13" name="TextBox 13"/>
          <p:cNvSpPr txBox="1"/>
          <p:nvPr/>
        </p:nvSpPr>
        <p:spPr>
          <a:xfrm>
            <a:off x="13642127" y="4039396"/>
            <a:ext cx="2382738" cy="481330"/>
          </a:xfrm>
          <a:prstGeom prst="rect">
            <a:avLst/>
          </a:prstGeom>
        </p:spPr>
        <p:txBody>
          <a:bodyPr lIns="0" tIns="0" rIns="0" bIns="0" rtlCol="0" anchor="t">
            <a:spAutoFit/>
          </a:bodyPr>
          <a:lstStyle/>
          <a:p>
            <a:pPr algn="ctr">
              <a:lnSpc>
                <a:spcPts val="3919"/>
              </a:lnSpc>
            </a:pPr>
            <a:r>
              <a:rPr lang="en-US" sz="2799" b="1">
                <a:solidFill>
                  <a:srgbClr val="FFFFFF"/>
                </a:solidFill>
                <a:latin typeface="Open Sans Bold"/>
                <a:ea typeface="Open Sans Bold"/>
                <a:cs typeface="Open Sans Bold"/>
                <a:sym typeface="Open Sans Bold"/>
              </a:rPr>
              <a:t>Modèles CNN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254621" y="2745073"/>
            <a:ext cx="3907429" cy="39074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 cap="sq">
              <a:gradFill>
                <a:gsLst>
                  <a:gs pos="0">
                    <a:srgbClr val="B87BA1">
                      <a:alpha val="100000"/>
                    </a:srgbClr>
                  </a:gs>
                  <a:gs pos="100000">
                    <a:srgbClr val="E7E8E4">
                      <a:alpha val="0"/>
                    </a:srgbClr>
                  </a:gs>
                </a:gsLst>
                <a:lin ang="0"/>
              </a:gra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grpSp>
        <p:nvGrpSpPr>
          <p:cNvPr id="5" name="Group 5"/>
          <p:cNvGrpSpPr/>
          <p:nvPr/>
        </p:nvGrpSpPr>
        <p:grpSpPr>
          <a:xfrm>
            <a:off x="7001080" y="3210301"/>
            <a:ext cx="798096" cy="79809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grpSp>
        <p:nvGrpSpPr>
          <p:cNvPr id="8" name="Group 8"/>
          <p:cNvGrpSpPr/>
          <p:nvPr/>
        </p:nvGrpSpPr>
        <p:grpSpPr>
          <a:xfrm>
            <a:off x="7001080" y="5280122"/>
            <a:ext cx="798096" cy="79809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grpSp>
        <p:nvGrpSpPr>
          <p:cNvPr id="11" name="Group 11"/>
          <p:cNvGrpSpPr/>
          <p:nvPr/>
        </p:nvGrpSpPr>
        <p:grpSpPr>
          <a:xfrm>
            <a:off x="10488824" y="3210301"/>
            <a:ext cx="798096" cy="79809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grpSp>
        <p:nvGrpSpPr>
          <p:cNvPr id="14" name="Group 14"/>
          <p:cNvGrpSpPr/>
          <p:nvPr/>
        </p:nvGrpSpPr>
        <p:grpSpPr>
          <a:xfrm>
            <a:off x="10488824" y="5280122"/>
            <a:ext cx="798096" cy="79809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sp>
        <p:nvSpPr>
          <p:cNvPr id="17" name="Freeform 17"/>
          <p:cNvSpPr/>
          <p:nvPr/>
        </p:nvSpPr>
        <p:spPr>
          <a:xfrm>
            <a:off x="8204818" y="3609349"/>
            <a:ext cx="2007033" cy="2007033"/>
          </a:xfrm>
          <a:custGeom>
            <a:avLst/>
            <a:gdLst/>
            <a:ahLst/>
            <a:cxnLst/>
            <a:rect l="l" t="t" r="r" b="b"/>
            <a:pathLst>
              <a:path w="2007033" h="2007033">
                <a:moveTo>
                  <a:pt x="0" y="0"/>
                </a:moveTo>
                <a:lnTo>
                  <a:pt x="2007034" y="0"/>
                </a:lnTo>
                <a:lnTo>
                  <a:pt x="2007034" y="2007034"/>
                </a:lnTo>
                <a:lnTo>
                  <a:pt x="0" y="20070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8" name="Freeform 18"/>
          <p:cNvSpPr/>
          <p:nvPr/>
        </p:nvSpPr>
        <p:spPr>
          <a:xfrm>
            <a:off x="6220858" y="7097214"/>
            <a:ext cx="5523438" cy="3189786"/>
          </a:xfrm>
          <a:custGeom>
            <a:avLst/>
            <a:gdLst/>
            <a:ahLst/>
            <a:cxnLst/>
            <a:rect l="l" t="t" r="r" b="b"/>
            <a:pathLst>
              <a:path w="5523438" h="3189786">
                <a:moveTo>
                  <a:pt x="0" y="0"/>
                </a:moveTo>
                <a:lnTo>
                  <a:pt x="5523438" y="0"/>
                </a:lnTo>
                <a:lnTo>
                  <a:pt x="5523438" y="3189786"/>
                </a:lnTo>
                <a:lnTo>
                  <a:pt x="0" y="3189786"/>
                </a:lnTo>
                <a:lnTo>
                  <a:pt x="0" y="0"/>
                </a:lnTo>
                <a:close/>
              </a:path>
            </a:pathLst>
          </a:custGeom>
          <a:blipFill>
            <a:blip r:embed="rId4"/>
            <a:stretch>
              <a:fillRect/>
            </a:stretch>
          </a:blipFill>
        </p:spPr>
      </p:sp>
      <p:sp>
        <p:nvSpPr>
          <p:cNvPr id="19" name="TextBox 19"/>
          <p:cNvSpPr txBox="1"/>
          <p:nvPr/>
        </p:nvSpPr>
        <p:spPr>
          <a:xfrm>
            <a:off x="4963083" y="1171575"/>
            <a:ext cx="8361835" cy="1128784"/>
          </a:xfrm>
          <a:prstGeom prst="rect">
            <a:avLst/>
          </a:prstGeom>
        </p:spPr>
        <p:txBody>
          <a:bodyPr lIns="0" tIns="0" rIns="0" bIns="0" rtlCol="0" anchor="t">
            <a:spAutoFit/>
          </a:bodyPr>
          <a:lstStyle/>
          <a:p>
            <a:pPr algn="ctr">
              <a:lnSpc>
                <a:spcPts val="8315"/>
              </a:lnSpc>
            </a:pPr>
            <a:r>
              <a:rPr lang="en-US" sz="8315" b="1">
                <a:solidFill>
                  <a:srgbClr val="FFFFFF"/>
                </a:solidFill>
                <a:latin typeface="Bebas Neue Bold"/>
                <a:ea typeface="Bebas Neue Bold"/>
                <a:cs typeface="Bebas Neue Bold"/>
                <a:sym typeface="Bebas Neue Bold"/>
              </a:rPr>
              <a:t>Préparation des images</a:t>
            </a:r>
          </a:p>
        </p:txBody>
      </p:sp>
      <p:sp>
        <p:nvSpPr>
          <p:cNvPr id="20" name="TextBox 20"/>
          <p:cNvSpPr txBox="1"/>
          <p:nvPr/>
        </p:nvSpPr>
        <p:spPr>
          <a:xfrm>
            <a:off x="2458185" y="3124576"/>
            <a:ext cx="3762673" cy="811530"/>
          </a:xfrm>
          <a:prstGeom prst="rect">
            <a:avLst/>
          </a:prstGeom>
        </p:spPr>
        <p:txBody>
          <a:bodyPr lIns="0" tIns="0" rIns="0" bIns="0" rtlCol="0" anchor="t">
            <a:spAutoFit/>
          </a:bodyPr>
          <a:lstStyle/>
          <a:p>
            <a:pPr algn="ctr">
              <a:lnSpc>
                <a:spcPts val="6719"/>
              </a:lnSpc>
            </a:pPr>
            <a:r>
              <a:rPr lang="en-US" sz="4800" b="1">
                <a:solidFill>
                  <a:srgbClr val="FFFFFF"/>
                </a:solidFill>
                <a:latin typeface="Open Sans Bold"/>
                <a:ea typeface="Open Sans Bold"/>
                <a:cs typeface="Open Sans Bold"/>
                <a:sym typeface="Open Sans Bold"/>
              </a:rPr>
              <a:t>Chargement</a:t>
            </a:r>
          </a:p>
        </p:txBody>
      </p:sp>
      <p:sp>
        <p:nvSpPr>
          <p:cNvPr id="21" name="TextBox 21"/>
          <p:cNvSpPr txBox="1"/>
          <p:nvPr/>
        </p:nvSpPr>
        <p:spPr>
          <a:xfrm>
            <a:off x="11744296" y="3124576"/>
            <a:ext cx="6345734" cy="811530"/>
          </a:xfrm>
          <a:prstGeom prst="rect">
            <a:avLst/>
          </a:prstGeom>
        </p:spPr>
        <p:txBody>
          <a:bodyPr lIns="0" tIns="0" rIns="0" bIns="0" rtlCol="0" anchor="t">
            <a:spAutoFit/>
          </a:bodyPr>
          <a:lstStyle/>
          <a:p>
            <a:pPr algn="ctr">
              <a:lnSpc>
                <a:spcPts val="6719"/>
              </a:lnSpc>
            </a:pPr>
            <a:r>
              <a:rPr lang="en-US" sz="4800" b="1">
                <a:solidFill>
                  <a:srgbClr val="FFFFFF"/>
                </a:solidFill>
                <a:latin typeface="Open Sans Bold"/>
                <a:ea typeface="Open Sans Bold"/>
                <a:cs typeface="Open Sans Bold"/>
                <a:sym typeface="Open Sans Bold"/>
              </a:rPr>
              <a:t>Redimensionnement</a:t>
            </a:r>
          </a:p>
        </p:txBody>
      </p:sp>
      <p:sp>
        <p:nvSpPr>
          <p:cNvPr id="22" name="TextBox 22"/>
          <p:cNvSpPr txBox="1"/>
          <p:nvPr/>
        </p:nvSpPr>
        <p:spPr>
          <a:xfrm>
            <a:off x="1832214" y="5230542"/>
            <a:ext cx="4388644" cy="811530"/>
          </a:xfrm>
          <a:prstGeom prst="rect">
            <a:avLst/>
          </a:prstGeom>
        </p:spPr>
        <p:txBody>
          <a:bodyPr lIns="0" tIns="0" rIns="0" bIns="0" rtlCol="0" anchor="t">
            <a:spAutoFit/>
          </a:bodyPr>
          <a:lstStyle/>
          <a:p>
            <a:pPr algn="ctr">
              <a:lnSpc>
                <a:spcPts val="6719"/>
              </a:lnSpc>
            </a:pPr>
            <a:r>
              <a:rPr lang="en-US" sz="4800" b="1">
                <a:solidFill>
                  <a:srgbClr val="FFFFFF"/>
                </a:solidFill>
                <a:latin typeface="Open Sans Bold"/>
                <a:ea typeface="Open Sans Bold"/>
                <a:cs typeface="Open Sans Bold"/>
                <a:sym typeface="Open Sans Bold"/>
              </a:rPr>
              <a:t>Normalisation</a:t>
            </a:r>
          </a:p>
        </p:txBody>
      </p:sp>
      <p:sp>
        <p:nvSpPr>
          <p:cNvPr id="23" name="TextBox 23"/>
          <p:cNvSpPr txBox="1"/>
          <p:nvPr/>
        </p:nvSpPr>
        <p:spPr>
          <a:xfrm>
            <a:off x="11162049" y="4993246"/>
            <a:ext cx="7312407" cy="1659255"/>
          </a:xfrm>
          <a:prstGeom prst="rect">
            <a:avLst/>
          </a:prstGeom>
        </p:spPr>
        <p:txBody>
          <a:bodyPr lIns="0" tIns="0" rIns="0" bIns="0" rtlCol="0" anchor="t">
            <a:spAutoFit/>
          </a:bodyPr>
          <a:lstStyle/>
          <a:p>
            <a:pPr algn="ctr">
              <a:lnSpc>
                <a:spcPts val="6719"/>
              </a:lnSpc>
            </a:pPr>
            <a:r>
              <a:rPr lang="en-US" sz="4800" b="1">
                <a:solidFill>
                  <a:srgbClr val="FFFFFF"/>
                </a:solidFill>
                <a:latin typeface="Open Sans Bold"/>
                <a:ea typeface="Open Sans Bold"/>
                <a:cs typeface="Open Sans Bold"/>
                <a:sym typeface="Open Sans Bold"/>
              </a:rPr>
              <a:t>Conversion en niveau de gris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631454" y="5369601"/>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2">
              <a:alphaModFix amt="44999"/>
              <a:extLst>
                <a:ext uri="{96DAC541-7B7A-43D3-8B79-37D633B846F1}">
                  <asvg:svgBlip xmlns:asvg="http://schemas.microsoft.com/office/drawing/2016/SVG/main" r:embed="rId3"/>
                </a:ext>
              </a:extLst>
            </a:blip>
            <a:stretch>
              <a:fillRect/>
            </a:stretch>
          </a:blipFill>
        </p:spPr>
      </p:sp>
      <p:sp>
        <p:nvSpPr>
          <p:cNvPr id="3" name="Freeform 3"/>
          <p:cNvSpPr/>
          <p:nvPr/>
        </p:nvSpPr>
        <p:spPr>
          <a:xfrm>
            <a:off x="5958041" y="4059721"/>
            <a:ext cx="11301259" cy="5198579"/>
          </a:xfrm>
          <a:custGeom>
            <a:avLst/>
            <a:gdLst/>
            <a:ahLst/>
            <a:cxnLst/>
            <a:rect l="l" t="t" r="r" b="b"/>
            <a:pathLst>
              <a:path w="11301259" h="5198579">
                <a:moveTo>
                  <a:pt x="0" y="0"/>
                </a:moveTo>
                <a:lnTo>
                  <a:pt x="11301259" y="0"/>
                </a:lnTo>
                <a:lnTo>
                  <a:pt x="11301259" y="5198579"/>
                </a:lnTo>
                <a:lnTo>
                  <a:pt x="0" y="5198579"/>
                </a:lnTo>
                <a:lnTo>
                  <a:pt x="0" y="0"/>
                </a:lnTo>
                <a:close/>
              </a:path>
            </a:pathLst>
          </a:custGeom>
          <a:blipFill>
            <a:blip r:embed="rId4"/>
            <a:stretch>
              <a:fillRect/>
            </a:stretch>
          </a:blipFill>
        </p:spPr>
      </p:sp>
      <p:sp>
        <p:nvSpPr>
          <p:cNvPr id="4" name="TextBox 4"/>
          <p:cNvSpPr txBox="1"/>
          <p:nvPr/>
        </p:nvSpPr>
        <p:spPr>
          <a:xfrm>
            <a:off x="1028700" y="1171575"/>
            <a:ext cx="5385535"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Etapes clés</a:t>
            </a:r>
          </a:p>
        </p:txBody>
      </p:sp>
      <p:sp>
        <p:nvSpPr>
          <p:cNvPr id="5" name="TextBox 5"/>
          <p:cNvSpPr txBox="1"/>
          <p:nvPr/>
        </p:nvSpPr>
        <p:spPr>
          <a:xfrm>
            <a:off x="1028700" y="2138085"/>
            <a:ext cx="5385535" cy="1122605"/>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SIFT</a:t>
            </a:r>
          </a:p>
        </p:txBody>
      </p:sp>
      <p:sp>
        <p:nvSpPr>
          <p:cNvPr id="6" name="TextBox 6"/>
          <p:cNvSpPr txBox="1"/>
          <p:nvPr/>
        </p:nvSpPr>
        <p:spPr>
          <a:xfrm>
            <a:off x="7394094" y="1036042"/>
            <a:ext cx="8429153" cy="1861185"/>
          </a:xfrm>
          <a:prstGeom prst="rect">
            <a:avLst/>
          </a:prstGeom>
        </p:spPr>
        <p:txBody>
          <a:bodyPr lIns="0" tIns="0" rIns="0" bIns="0" rtlCol="0" anchor="t">
            <a:spAutoFit/>
          </a:bodyPr>
          <a:lstStyle/>
          <a:p>
            <a:pPr algn="l">
              <a:lnSpc>
                <a:spcPts val="2940"/>
              </a:lnSpc>
            </a:pPr>
            <a:r>
              <a:rPr lang="en-US" sz="2100">
                <a:solidFill>
                  <a:srgbClr val="FFFFFF"/>
                </a:solidFill>
                <a:latin typeface="Raleway"/>
                <a:ea typeface="Raleway"/>
                <a:cs typeface="Raleway"/>
                <a:sym typeface="Raleway"/>
              </a:rPr>
              <a:t>SIFT (Scale-Invariant Feature Transform) est une méthode qui détecte les points clés d’une image (formes, textures) et les décrit sous forme de vecteurs.</a:t>
            </a:r>
          </a:p>
          <a:p>
            <a:pPr algn="l">
              <a:lnSpc>
                <a:spcPts val="2940"/>
              </a:lnSpc>
              <a:spcBef>
                <a:spcPct val="0"/>
              </a:spcBef>
            </a:pPr>
            <a:r>
              <a:rPr lang="en-US" sz="2100">
                <a:solidFill>
                  <a:srgbClr val="FFFFFF"/>
                </a:solidFill>
                <a:latin typeface="Raleway"/>
                <a:ea typeface="Raleway"/>
                <a:cs typeface="Raleway"/>
                <a:sym typeface="Raleway"/>
              </a:rPr>
              <a:t> Cela permet de résumer l’image par ses motifs caractéristiques, indépendamment de sa taille ou de son orientation.</a:t>
            </a:r>
          </a:p>
        </p:txBody>
      </p:sp>
      <p:sp>
        <p:nvSpPr>
          <p:cNvPr id="7" name="TextBox 7"/>
          <p:cNvSpPr txBox="1"/>
          <p:nvPr/>
        </p:nvSpPr>
        <p:spPr>
          <a:xfrm>
            <a:off x="1028700" y="4082802"/>
            <a:ext cx="4248504" cy="5175498"/>
          </a:xfrm>
          <a:prstGeom prst="rect">
            <a:avLst/>
          </a:prstGeom>
        </p:spPr>
        <p:txBody>
          <a:bodyPr lIns="0" tIns="0" rIns="0" bIns="0" rtlCol="0" anchor="t">
            <a:spAutoFit/>
          </a:bodyPr>
          <a:lstStyle/>
          <a:p>
            <a:pPr marL="375713" lvl="1" indent="-187856" algn="l">
              <a:lnSpc>
                <a:spcPts val="2436"/>
              </a:lnSpc>
              <a:buFont typeface="Arial"/>
              <a:buChar char="•"/>
            </a:pPr>
            <a:r>
              <a:rPr lang="en-US" sz="1740">
                <a:solidFill>
                  <a:srgbClr val="FFFFFF"/>
                </a:solidFill>
                <a:latin typeface="Raleway"/>
                <a:ea typeface="Raleway"/>
                <a:cs typeface="Raleway"/>
                <a:sym typeface="Raleway"/>
              </a:rPr>
              <a:t>Appliquer l’algorithme SIFT : détection des points clés &amp; extraction des descripteurs</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Regrouper les descripteurs avec KMeans : construction d’un vocabulaire visuel (BoVW)</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Créer les histogrammes BoVW pour chaque image : chaque image devient un vecteur de fréquences de motifs</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Utiliser ces vecteurs comme entrée : entrer ces vecteurs dans un modèle de classification.</a:t>
            </a:r>
          </a:p>
          <a:p>
            <a:pPr algn="l">
              <a:lnSpc>
                <a:spcPts val="2436"/>
              </a:lnSpc>
              <a:spcBef>
                <a:spcPct val="0"/>
              </a:spcBef>
            </a:pPr>
            <a:endParaRPr lang="en-US" sz="1740">
              <a:solidFill>
                <a:srgbClr val="FFFFFF"/>
              </a:solidFill>
              <a:latin typeface="Raleway"/>
              <a:ea typeface="Raleway"/>
              <a:cs typeface="Raleway"/>
              <a:sym typeface="Raleway"/>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631454" y="5369601"/>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2">
              <a:alphaModFix amt="44999"/>
              <a:extLst>
                <a:ext uri="{96DAC541-7B7A-43D3-8B79-37D633B846F1}">
                  <asvg:svgBlip xmlns:asvg="http://schemas.microsoft.com/office/drawing/2016/SVG/main" r:embed="rId3"/>
                </a:ext>
              </a:extLst>
            </a:blip>
            <a:stretch>
              <a:fillRect/>
            </a:stretch>
          </a:blipFill>
        </p:spPr>
      </p:sp>
      <p:sp>
        <p:nvSpPr>
          <p:cNvPr id="3" name="Freeform 3"/>
          <p:cNvSpPr/>
          <p:nvPr/>
        </p:nvSpPr>
        <p:spPr>
          <a:xfrm>
            <a:off x="8875141" y="3492093"/>
            <a:ext cx="5319778" cy="6333835"/>
          </a:xfrm>
          <a:custGeom>
            <a:avLst/>
            <a:gdLst/>
            <a:ahLst/>
            <a:cxnLst/>
            <a:rect l="l" t="t" r="r" b="b"/>
            <a:pathLst>
              <a:path w="5319778" h="6333835">
                <a:moveTo>
                  <a:pt x="0" y="0"/>
                </a:moveTo>
                <a:lnTo>
                  <a:pt x="5319778" y="0"/>
                </a:lnTo>
                <a:lnTo>
                  <a:pt x="5319778" y="6333835"/>
                </a:lnTo>
                <a:lnTo>
                  <a:pt x="0" y="6333835"/>
                </a:lnTo>
                <a:lnTo>
                  <a:pt x="0" y="0"/>
                </a:lnTo>
                <a:close/>
              </a:path>
            </a:pathLst>
          </a:custGeom>
          <a:blipFill>
            <a:blip r:embed="rId4"/>
            <a:stretch>
              <a:fillRect/>
            </a:stretch>
          </a:blipFill>
        </p:spPr>
      </p:sp>
      <p:sp>
        <p:nvSpPr>
          <p:cNvPr id="4" name="TextBox 4"/>
          <p:cNvSpPr txBox="1"/>
          <p:nvPr/>
        </p:nvSpPr>
        <p:spPr>
          <a:xfrm>
            <a:off x="1028700" y="1171575"/>
            <a:ext cx="5385535"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Etapes clés</a:t>
            </a:r>
          </a:p>
        </p:txBody>
      </p:sp>
      <p:sp>
        <p:nvSpPr>
          <p:cNvPr id="5" name="TextBox 5"/>
          <p:cNvSpPr txBox="1"/>
          <p:nvPr/>
        </p:nvSpPr>
        <p:spPr>
          <a:xfrm>
            <a:off x="1028700" y="2138085"/>
            <a:ext cx="5385535" cy="1122605"/>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CNN</a:t>
            </a:r>
          </a:p>
        </p:txBody>
      </p:sp>
      <p:sp>
        <p:nvSpPr>
          <p:cNvPr id="6" name="TextBox 6"/>
          <p:cNvSpPr txBox="1"/>
          <p:nvPr/>
        </p:nvSpPr>
        <p:spPr>
          <a:xfrm>
            <a:off x="7320453" y="1028030"/>
            <a:ext cx="8429153" cy="2232660"/>
          </a:xfrm>
          <a:prstGeom prst="rect">
            <a:avLst/>
          </a:prstGeom>
        </p:spPr>
        <p:txBody>
          <a:bodyPr lIns="0" tIns="0" rIns="0" bIns="0" rtlCol="0" anchor="t">
            <a:spAutoFit/>
          </a:bodyPr>
          <a:lstStyle/>
          <a:p>
            <a:pPr algn="l">
              <a:lnSpc>
                <a:spcPts val="2940"/>
              </a:lnSpc>
            </a:pPr>
            <a:r>
              <a:rPr lang="en-US" sz="2100">
                <a:solidFill>
                  <a:srgbClr val="FFFFFF"/>
                </a:solidFill>
                <a:latin typeface="Raleway"/>
                <a:ea typeface="Raleway"/>
                <a:cs typeface="Raleway"/>
                <a:sym typeface="Raleway"/>
              </a:rPr>
              <a:t>VGG16 est un réseau de neurones convolutifs (CNN) pré-entraîné qui peut extraire automatiquement les caractéristiques visuelles les plus pertinentes d’une image.</a:t>
            </a:r>
          </a:p>
          <a:p>
            <a:pPr algn="l">
              <a:lnSpc>
                <a:spcPts val="2940"/>
              </a:lnSpc>
              <a:spcBef>
                <a:spcPct val="0"/>
              </a:spcBef>
            </a:pPr>
            <a:r>
              <a:rPr lang="en-US" sz="2100">
                <a:solidFill>
                  <a:srgbClr val="FFFFFF"/>
                </a:solidFill>
                <a:latin typeface="Raleway"/>
                <a:ea typeface="Raleway"/>
                <a:cs typeface="Raleway"/>
                <a:sym typeface="Raleway"/>
              </a:rPr>
              <a:t> Il est particulièrement efficace pour reconnaître les formes et les objets et permet d’obtenir des performances élevées en classification, sans devoir entraîner un modèle depuis zéro.</a:t>
            </a:r>
          </a:p>
        </p:txBody>
      </p:sp>
      <p:sp>
        <p:nvSpPr>
          <p:cNvPr id="7" name="TextBox 7"/>
          <p:cNvSpPr txBox="1"/>
          <p:nvPr/>
        </p:nvSpPr>
        <p:spPr>
          <a:xfrm>
            <a:off x="1028700" y="4357011"/>
            <a:ext cx="4248504" cy="4565898"/>
          </a:xfrm>
          <a:prstGeom prst="rect">
            <a:avLst/>
          </a:prstGeom>
        </p:spPr>
        <p:txBody>
          <a:bodyPr lIns="0" tIns="0" rIns="0" bIns="0" rtlCol="0" anchor="t">
            <a:spAutoFit/>
          </a:bodyPr>
          <a:lstStyle/>
          <a:p>
            <a:pPr marL="375713" lvl="1" indent="-187856" algn="l">
              <a:lnSpc>
                <a:spcPts val="2436"/>
              </a:lnSpc>
              <a:buFont typeface="Arial"/>
              <a:buChar char="•"/>
            </a:pPr>
            <a:r>
              <a:rPr lang="en-US" sz="1740">
                <a:solidFill>
                  <a:srgbClr val="FFFFFF"/>
                </a:solidFill>
                <a:latin typeface="Raleway"/>
                <a:ea typeface="Raleway"/>
                <a:cs typeface="Raleway"/>
                <a:sym typeface="Raleway"/>
              </a:rPr>
              <a:t>Charger VGG16 pré-entraîné sans sa dernière couche</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Ajouter une nouvelle couche de classification : adaptée au nombre de catégories du projet</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Entraîner le modèle sur vos données : optionnel : ajouter de la data augmentation pour améliorer la robustesse</a:t>
            </a:r>
          </a:p>
          <a:p>
            <a:pPr algn="l">
              <a:lnSpc>
                <a:spcPts val="2436"/>
              </a:lnSpc>
            </a:pPr>
            <a:endParaRPr lang="en-US" sz="1740">
              <a:solidFill>
                <a:srgbClr val="FFFFFF"/>
              </a:solidFill>
              <a:latin typeface="Raleway"/>
              <a:ea typeface="Raleway"/>
              <a:cs typeface="Raleway"/>
              <a:sym typeface="Raleway"/>
            </a:endParaRPr>
          </a:p>
          <a:p>
            <a:pPr marL="375713" lvl="1" indent="-187856" algn="l">
              <a:lnSpc>
                <a:spcPts val="2436"/>
              </a:lnSpc>
              <a:buFont typeface="Arial"/>
              <a:buChar char="•"/>
            </a:pPr>
            <a:r>
              <a:rPr lang="en-US" sz="1740">
                <a:solidFill>
                  <a:srgbClr val="FFFFFF"/>
                </a:solidFill>
                <a:latin typeface="Raleway"/>
                <a:ea typeface="Raleway"/>
                <a:cs typeface="Raleway"/>
                <a:sym typeface="Raleway"/>
              </a:rPr>
              <a:t>Évaluer les performances sur un jeu de validation</a:t>
            </a:r>
          </a:p>
          <a:p>
            <a:pPr algn="l">
              <a:lnSpc>
                <a:spcPts val="2436"/>
              </a:lnSpc>
              <a:spcBef>
                <a:spcPct val="0"/>
              </a:spcBef>
            </a:pPr>
            <a:endParaRPr lang="en-US" sz="1740">
              <a:solidFill>
                <a:srgbClr val="FFFFFF"/>
              </a:solidFill>
              <a:latin typeface="Raleway"/>
              <a:ea typeface="Raleway"/>
              <a:cs typeface="Raleway"/>
              <a:sym typeface="Raleway"/>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289828" y="2301699"/>
            <a:ext cx="5385535" cy="3755906"/>
          </a:xfrm>
          <a:custGeom>
            <a:avLst/>
            <a:gdLst/>
            <a:ahLst/>
            <a:cxnLst/>
            <a:rect l="l" t="t" r="r" b="b"/>
            <a:pathLst>
              <a:path w="5385535" h="3755906">
                <a:moveTo>
                  <a:pt x="0" y="0"/>
                </a:moveTo>
                <a:lnTo>
                  <a:pt x="5385535" y="0"/>
                </a:lnTo>
                <a:lnTo>
                  <a:pt x="5385535" y="3755907"/>
                </a:lnTo>
                <a:lnTo>
                  <a:pt x="0" y="3755907"/>
                </a:lnTo>
                <a:lnTo>
                  <a:pt x="0" y="0"/>
                </a:lnTo>
                <a:close/>
              </a:path>
            </a:pathLst>
          </a:custGeom>
          <a:blipFill>
            <a:blip r:embed="rId2"/>
            <a:stretch>
              <a:fillRect/>
            </a:stretch>
          </a:blipFill>
        </p:spPr>
      </p:sp>
      <p:sp>
        <p:nvSpPr>
          <p:cNvPr id="3" name="Freeform 3"/>
          <p:cNvSpPr/>
          <p:nvPr/>
        </p:nvSpPr>
        <p:spPr>
          <a:xfrm>
            <a:off x="3289828" y="6114756"/>
            <a:ext cx="5385535" cy="3960179"/>
          </a:xfrm>
          <a:custGeom>
            <a:avLst/>
            <a:gdLst/>
            <a:ahLst/>
            <a:cxnLst/>
            <a:rect l="l" t="t" r="r" b="b"/>
            <a:pathLst>
              <a:path w="5385535" h="3960179">
                <a:moveTo>
                  <a:pt x="0" y="0"/>
                </a:moveTo>
                <a:lnTo>
                  <a:pt x="5385535" y="0"/>
                </a:lnTo>
                <a:lnTo>
                  <a:pt x="5385535" y="3960179"/>
                </a:lnTo>
                <a:lnTo>
                  <a:pt x="0" y="3960179"/>
                </a:lnTo>
                <a:lnTo>
                  <a:pt x="0" y="0"/>
                </a:lnTo>
                <a:close/>
              </a:path>
            </a:pathLst>
          </a:custGeom>
          <a:blipFill>
            <a:blip r:embed="rId3"/>
            <a:stretch>
              <a:fillRect/>
            </a:stretch>
          </a:blipFill>
        </p:spPr>
      </p:sp>
      <p:sp>
        <p:nvSpPr>
          <p:cNvPr id="4" name="Freeform 4"/>
          <p:cNvSpPr/>
          <p:nvPr/>
        </p:nvSpPr>
        <p:spPr>
          <a:xfrm>
            <a:off x="9144000" y="2301699"/>
            <a:ext cx="7962311" cy="7775512"/>
          </a:xfrm>
          <a:custGeom>
            <a:avLst/>
            <a:gdLst/>
            <a:ahLst/>
            <a:cxnLst/>
            <a:rect l="l" t="t" r="r" b="b"/>
            <a:pathLst>
              <a:path w="7962311" h="7775512">
                <a:moveTo>
                  <a:pt x="0" y="0"/>
                </a:moveTo>
                <a:lnTo>
                  <a:pt x="7962311" y="0"/>
                </a:lnTo>
                <a:lnTo>
                  <a:pt x="7962311" y="7775513"/>
                </a:lnTo>
                <a:lnTo>
                  <a:pt x="0" y="7775513"/>
                </a:lnTo>
                <a:lnTo>
                  <a:pt x="0" y="0"/>
                </a:lnTo>
                <a:close/>
              </a:path>
            </a:pathLst>
          </a:custGeom>
          <a:blipFill>
            <a:blip r:embed="rId4"/>
            <a:stretch>
              <a:fillRect/>
            </a:stretch>
          </a:blipFill>
        </p:spPr>
      </p:sp>
      <p:sp>
        <p:nvSpPr>
          <p:cNvPr id="5" name="TextBox 5"/>
          <p:cNvSpPr txBox="1"/>
          <p:nvPr/>
        </p:nvSpPr>
        <p:spPr>
          <a:xfrm>
            <a:off x="1028700" y="1171575"/>
            <a:ext cx="5385535"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Résultat</a:t>
            </a:r>
          </a:p>
        </p:txBody>
      </p:sp>
      <p:sp>
        <p:nvSpPr>
          <p:cNvPr id="6" name="TextBox 6"/>
          <p:cNvSpPr txBox="1"/>
          <p:nvPr/>
        </p:nvSpPr>
        <p:spPr>
          <a:xfrm>
            <a:off x="1028700" y="2138085"/>
            <a:ext cx="5385535" cy="1122605"/>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CNN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6451232" y="1171575"/>
            <a:ext cx="5385535" cy="1128784"/>
          </a:xfrm>
          <a:prstGeom prst="rect">
            <a:avLst/>
          </a:prstGeom>
        </p:spPr>
        <p:txBody>
          <a:bodyPr lIns="0" tIns="0" rIns="0" bIns="0" rtlCol="0" anchor="t">
            <a:spAutoFit/>
          </a:bodyPr>
          <a:lstStyle/>
          <a:p>
            <a:pPr algn="ctr">
              <a:lnSpc>
                <a:spcPts val="8315"/>
              </a:lnSpc>
            </a:pPr>
            <a:r>
              <a:rPr lang="en-US" sz="8315" b="1">
                <a:solidFill>
                  <a:srgbClr val="FFFFFF"/>
                </a:solidFill>
                <a:latin typeface="Bebas Neue Bold"/>
                <a:ea typeface="Bebas Neue Bold"/>
                <a:cs typeface="Bebas Neue Bold"/>
                <a:sym typeface="Bebas Neue Bold"/>
              </a:rPr>
              <a:t>Plan</a:t>
            </a:r>
          </a:p>
        </p:txBody>
      </p:sp>
      <p:sp>
        <p:nvSpPr>
          <p:cNvPr id="3" name="TextBox 3"/>
          <p:cNvSpPr txBox="1"/>
          <p:nvPr/>
        </p:nvSpPr>
        <p:spPr>
          <a:xfrm>
            <a:off x="3816491" y="2138085"/>
            <a:ext cx="10655017" cy="1128786"/>
          </a:xfrm>
          <a:prstGeom prst="rect">
            <a:avLst/>
          </a:prstGeom>
        </p:spPr>
        <p:txBody>
          <a:bodyPr lIns="0" tIns="0" rIns="0" bIns="0" rtlCol="0" anchor="t">
            <a:spAutoFit/>
          </a:bodyPr>
          <a:lstStyle/>
          <a:p>
            <a:pPr algn="ctr">
              <a:lnSpc>
                <a:spcPts val="8315"/>
              </a:lnSpc>
            </a:pPr>
            <a:r>
              <a:rPr lang="en-US" sz="8315" b="1">
                <a:solidFill>
                  <a:srgbClr val="D563A1"/>
                </a:solidFill>
                <a:latin typeface="Bebas Neue Bold"/>
                <a:ea typeface="Bebas Neue Bold"/>
                <a:cs typeface="Bebas Neue Bold"/>
                <a:sym typeface="Bebas Neue Bold"/>
              </a:rPr>
              <a:t>Classification supervisée</a:t>
            </a:r>
          </a:p>
        </p:txBody>
      </p:sp>
      <p:sp>
        <p:nvSpPr>
          <p:cNvPr id="4" name="Freeform 4"/>
          <p:cNvSpPr/>
          <p:nvPr/>
        </p:nvSpPr>
        <p:spPr>
          <a:xfrm>
            <a:off x="1540604" y="4957011"/>
            <a:ext cx="674722" cy="674722"/>
          </a:xfrm>
          <a:custGeom>
            <a:avLst/>
            <a:gdLst/>
            <a:ahLst/>
            <a:cxnLst/>
            <a:rect l="l" t="t" r="r" b="b"/>
            <a:pathLst>
              <a:path w="674722" h="674722">
                <a:moveTo>
                  <a:pt x="0" y="0"/>
                </a:moveTo>
                <a:lnTo>
                  <a:pt x="674723" y="0"/>
                </a:lnTo>
                <a:lnTo>
                  <a:pt x="674723" y="674723"/>
                </a:lnTo>
                <a:lnTo>
                  <a:pt x="0" y="6747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2557881" y="4812556"/>
            <a:ext cx="3370224" cy="4461510"/>
          </a:xfrm>
          <a:prstGeom prst="rect">
            <a:avLst/>
          </a:prstGeom>
        </p:spPr>
        <p:txBody>
          <a:bodyPr lIns="0" tIns="0" rIns="0" bIns="0" rtlCol="0" anchor="t">
            <a:spAutoFit/>
          </a:bodyPr>
          <a:lstStyle/>
          <a:p>
            <a:pPr algn="l">
              <a:lnSpc>
                <a:spcPts val="2940"/>
              </a:lnSpc>
              <a:spcBef>
                <a:spcPct val="0"/>
              </a:spcBef>
            </a:pPr>
            <a:r>
              <a:rPr lang="en-US" sz="2100">
                <a:solidFill>
                  <a:srgbClr val="FFFFFF"/>
                </a:solidFill>
                <a:latin typeface="Raleway"/>
                <a:ea typeface="Raleway"/>
                <a:cs typeface="Raleway"/>
                <a:sym typeface="Raleway"/>
              </a:rPr>
              <a:t>Nous avons commencé par une première approche simple, en utilisant le modèle VGG16 pré-entraîné, sans le modifier, à l’exception d’une nouvelle couche de classification adaptée à nos catégories, afin de tester rapidement ses capacités de généralisation.</a:t>
            </a:r>
          </a:p>
        </p:txBody>
      </p:sp>
      <p:sp>
        <p:nvSpPr>
          <p:cNvPr id="6" name="Freeform 6"/>
          <p:cNvSpPr/>
          <p:nvPr/>
        </p:nvSpPr>
        <p:spPr>
          <a:xfrm>
            <a:off x="6832980" y="4957011"/>
            <a:ext cx="674722" cy="674722"/>
          </a:xfrm>
          <a:custGeom>
            <a:avLst/>
            <a:gdLst/>
            <a:ahLst/>
            <a:cxnLst/>
            <a:rect l="l" t="t" r="r" b="b"/>
            <a:pathLst>
              <a:path w="674722" h="674722">
                <a:moveTo>
                  <a:pt x="0" y="0"/>
                </a:moveTo>
                <a:lnTo>
                  <a:pt x="674722" y="0"/>
                </a:lnTo>
                <a:lnTo>
                  <a:pt x="674722" y="674723"/>
                </a:lnTo>
                <a:lnTo>
                  <a:pt x="0" y="6747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7850256" y="4812556"/>
            <a:ext cx="3249511" cy="3718560"/>
          </a:xfrm>
          <a:prstGeom prst="rect">
            <a:avLst/>
          </a:prstGeom>
        </p:spPr>
        <p:txBody>
          <a:bodyPr lIns="0" tIns="0" rIns="0" bIns="0" rtlCol="0" anchor="t">
            <a:spAutoFit/>
          </a:bodyPr>
          <a:lstStyle/>
          <a:p>
            <a:pPr algn="l">
              <a:lnSpc>
                <a:spcPts val="2940"/>
              </a:lnSpc>
              <a:spcBef>
                <a:spcPct val="0"/>
              </a:spcBef>
            </a:pPr>
            <a:r>
              <a:rPr lang="en-US" sz="2100">
                <a:solidFill>
                  <a:srgbClr val="FFFFFF"/>
                </a:solidFill>
                <a:latin typeface="Raleway"/>
                <a:ea typeface="Raleway"/>
                <a:cs typeface="Raleway"/>
                <a:sym typeface="Raleway"/>
              </a:rPr>
              <a:t>Pour améliorer la robustesse du modèle, nous avons repris VGG16 en ajoutant cette fois une data augmentation (rotations, décalages, flips) afin de simuler plus de diversité visuelle et limiter le risque de surapprentissage.</a:t>
            </a:r>
          </a:p>
        </p:txBody>
      </p:sp>
      <p:sp>
        <p:nvSpPr>
          <p:cNvPr id="8" name="Freeform 8"/>
          <p:cNvSpPr/>
          <p:nvPr/>
        </p:nvSpPr>
        <p:spPr>
          <a:xfrm>
            <a:off x="12624851" y="4957011"/>
            <a:ext cx="674722" cy="674722"/>
          </a:xfrm>
          <a:custGeom>
            <a:avLst/>
            <a:gdLst/>
            <a:ahLst/>
            <a:cxnLst/>
            <a:rect l="l" t="t" r="r" b="b"/>
            <a:pathLst>
              <a:path w="674722" h="674722">
                <a:moveTo>
                  <a:pt x="0" y="0"/>
                </a:moveTo>
                <a:lnTo>
                  <a:pt x="674723" y="0"/>
                </a:lnTo>
                <a:lnTo>
                  <a:pt x="674723" y="674723"/>
                </a:lnTo>
                <a:lnTo>
                  <a:pt x="0" y="6747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13642127" y="4812556"/>
            <a:ext cx="3249511" cy="3718560"/>
          </a:xfrm>
          <a:prstGeom prst="rect">
            <a:avLst/>
          </a:prstGeom>
        </p:spPr>
        <p:txBody>
          <a:bodyPr lIns="0" tIns="0" rIns="0" bIns="0" rtlCol="0" anchor="t">
            <a:spAutoFit/>
          </a:bodyPr>
          <a:lstStyle/>
          <a:p>
            <a:pPr algn="l">
              <a:lnSpc>
                <a:spcPts val="2940"/>
              </a:lnSpc>
              <a:spcBef>
                <a:spcPct val="0"/>
              </a:spcBef>
            </a:pPr>
            <a:r>
              <a:rPr lang="en-US" sz="2100">
                <a:solidFill>
                  <a:srgbClr val="FFFFFF"/>
                </a:solidFill>
                <a:latin typeface="Raleway"/>
                <a:ea typeface="Raleway"/>
                <a:cs typeface="Raleway"/>
                <a:sym typeface="Raleway"/>
              </a:rPr>
              <a:t>Dans une troisième approche, nous avons utilisé TensorFlow Dataset avec data augmentation intégrée, pour simplifier le flux de données et améliorer la gestion de la mémoire tout en conservant notre architecture VGG16.</a:t>
            </a:r>
          </a:p>
        </p:txBody>
      </p:sp>
      <p:sp>
        <p:nvSpPr>
          <p:cNvPr id="10" name="Freeform 10"/>
          <p:cNvSpPr/>
          <p:nvPr/>
        </p:nvSpPr>
        <p:spPr>
          <a:xfrm>
            <a:off x="14865004" y="-208218"/>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4">
              <a:alphaModFix amt="44999"/>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2557881" y="4039396"/>
            <a:ext cx="1998762" cy="481330"/>
          </a:xfrm>
          <a:prstGeom prst="rect">
            <a:avLst/>
          </a:prstGeom>
        </p:spPr>
        <p:txBody>
          <a:bodyPr lIns="0" tIns="0" rIns="0" bIns="0" rtlCol="0" anchor="t">
            <a:spAutoFit/>
          </a:bodyPr>
          <a:lstStyle/>
          <a:p>
            <a:pPr algn="ctr">
              <a:lnSpc>
                <a:spcPts val="3919"/>
              </a:lnSpc>
            </a:pPr>
            <a:r>
              <a:rPr lang="en-US" sz="2799" b="1">
                <a:solidFill>
                  <a:srgbClr val="FFFFFF"/>
                </a:solidFill>
                <a:latin typeface="Open Sans Bold"/>
                <a:ea typeface="Open Sans Bold"/>
                <a:cs typeface="Open Sans Bold"/>
                <a:sym typeface="Open Sans Bold"/>
              </a:rPr>
              <a:t>Approche 1</a:t>
            </a:r>
          </a:p>
        </p:txBody>
      </p:sp>
      <p:sp>
        <p:nvSpPr>
          <p:cNvPr id="12" name="TextBox 12"/>
          <p:cNvSpPr txBox="1"/>
          <p:nvPr/>
        </p:nvSpPr>
        <p:spPr>
          <a:xfrm>
            <a:off x="7850256" y="4039396"/>
            <a:ext cx="1998762" cy="481330"/>
          </a:xfrm>
          <a:prstGeom prst="rect">
            <a:avLst/>
          </a:prstGeom>
        </p:spPr>
        <p:txBody>
          <a:bodyPr lIns="0" tIns="0" rIns="0" bIns="0" rtlCol="0" anchor="t">
            <a:spAutoFit/>
          </a:bodyPr>
          <a:lstStyle/>
          <a:p>
            <a:pPr algn="ctr">
              <a:lnSpc>
                <a:spcPts val="3919"/>
              </a:lnSpc>
            </a:pPr>
            <a:r>
              <a:rPr lang="en-US" sz="2799" b="1">
                <a:solidFill>
                  <a:srgbClr val="FFFFFF"/>
                </a:solidFill>
                <a:latin typeface="Open Sans Bold"/>
                <a:ea typeface="Open Sans Bold"/>
                <a:cs typeface="Open Sans Bold"/>
                <a:sym typeface="Open Sans Bold"/>
              </a:rPr>
              <a:t>Approche 2</a:t>
            </a:r>
          </a:p>
        </p:txBody>
      </p:sp>
      <p:sp>
        <p:nvSpPr>
          <p:cNvPr id="13" name="TextBox 13"/>
          <p:cNvSpPr txBox="1"/>
          <p:nvPr/>
        </p:nvSpPr>
        <p:spPr>
          <a:xfrm>
            <a:off x="13642127" y="4039396"/>
            <a:ext cx="1998762" cy="481330"/>
          </a:xfrm>
          <a:prstGeom prst="rect">
            <a:avLst/>
          </a:prstGeom>
        </p:spPr>
        <p:txBody>
          <a:bodyPr lIns="0" tIns="0" rIns="0" bIns="0" rtlCol="0" anchor="t">
            <a:spAutoFit/>
          </a:bodyPr>
          <a:lstStyle/>
          <a:p>
            <a:pPr algn="ctr">
              <a:lnSpc>
                <a:spcPts val="3919"/>
              </a:lnSpc>
            </a:pPr>
            <a:r>
              <a:rPr lang="en-US" sz="2799" b="1">
                <a:solidFill>
                  <a:srgbClr val="FFFFFF"/>
                </a:solidFill>
                <a:latin typeface="Open Sans Bold"/>
                <a:ea typeface="Open Sans Bold"/>
                <a:cs typeface="Open Sans Bold"/>
                <a:sym typeface="Open Sans Bold"/>
              </a:rPr>
              <a:t>Approche 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631454" y="5369601"/>
            <a:ext cx="7315200" cy="3604399"/>
          </a:xfrm>
          <a:custGeom>
            <a:avLst/>
            <a:gdLst/>
            <a:ahLst/>
            <a:cxnLst/>
            <a:rect l="l" t="t" r="r" b="b"/>
            <a:pathLst>
              <a:path w="7315200" h="3604399">
                <a:moveTo>
                  <a:pt x="0" y="0"/>
                </a:moveTo>
                <a:lnTo>
                  <a:pt x="7315200" y="0"/>
                </a:lnTo>
                <a:lnTo>
                  <a:pt x="7315200" y="3604399"/>
                </a:lnTo>
                <a:lnTo>
                  <a:pt x="0" y="3604399"/>
                </a:lnTo>
                <a:lnTo>
                  <a:pt x="0" y="0"/>
                </a:lnTo>
                <a:close/>
              </a:path>
            </a:pathLst>
          </a:custGeom>
          <a:blipFill>
            <a:blip r:embed="rId2">
              <a:alphaModFix amt="44999"/>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1171575"/>
            <a:ext cx="5385535"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Etapes clés</a:t>
            </a:r>
          </a:p>
        </p:txBody>
      </p:sp>
      <p:sp>
        <p:nvSpPr>
          <p:cNvPr id="4" name="TextBox 4"/>
          <p:cNvSpPr txBox="1"/>
          <p:nvPr/>
        </p:nvSpPr>
        <p:spPr>
          <a:xfrm>
            <a:off x="1028700" y="2138085"/>
            <a:ext cx="5385535" cy="2176874"/>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Sur les 3 approches</a:t>
            </a:r>
          </a:p>
        </p:txBody>
      </p:sp>
      <p:sp>
        <p:nvSpPr>
          <p:cNvPr id="5" name="TextBox 5"/>
          <p:cNvSpPr txBox="1"/>
          <p:nvPr/>
        </p:nvSpPr>
        <p:spPr>
          <a:xfrm>
            <a:off x="6534406" y="962025"/>
            <a:ext cx="10724894" cy="8310413"/>
          </a:xfrm>
          <a:prstGeom prst="rect">
            <a:avLst/>
          </a:prstGeom>
        </p:spPr>
        <p:txBody>
          <a:bodyPr lIns="0" tIns="0" rIns="0" bIns="0" rtlCol="0" anchor="t">
            <a:spAutoFit/>
          </a:bodyPr>
          <a:lstStyle/>
          <a:p>
            <a:pPr algn="l">
              <a:lnSpc>
                <a:spcPts val="3560"/>
              </a:lnSpc>
            </a:pPr>
            <a:r>
              <a:rPr lang="en-US" sz="2543" b="1">
                <a:solidFill>
                  <a:srgbClr val="FFFFFF"/>
                </a:solidFill>
                <a:latin typeface="Raleway Bold"/>
                <a:ea typeface="Raleway Bold"/>
                <a:cs typeface="Raleway Bold"/>
                <a:sym typeface="Raleway Bold"/>
              </a:rPr>
              <a:t>1. Création du modèle</a:t>
            </a:r>
          </a:p>
          <a:p>
            <a:pPr algn="l">
              <a:lnSpc>
                <a:spcPts val="3280"/>
              </a:lnSpc>
            </a:pPr>
            <a:r>
              <a:rPr lang="en-US" sz="2343">
                <a:solidFill>
                  <a:srgbClr val="FFFFFF"/>
                </a:solidFill>
                <a:latin typeface="Raleway"/>
                <a:ea typeface="Raleway"/>
                <a:cs typeface="Raleway"/>
                <a:sym typeface="Raleway"/>
              </a:rPr>
              <a:t>Chargement de VGG16 pré-entraîné sans les couches finales.</a:t>
            </a:r>
          </a:p>
          <a:p>
            <a:pPr algn="l">
              <a:lnSpc>
                <a:spcPts val="3280"/>
              </a:lnSpc>
            </a:pPr>
            <a:r>
              <a:rPr lang="en-US" sz="2343">
                <a:solidFill>
                  <a:srgbClr val="FFFFFF"/>
                </a:solidFill>
                <a:latin typeface="Raleway"/>
                <a:ea typeface="Raleway"/>
                <a:cs typeface="Raleway"/>
                <a:sym typeface="Raleway"/>
              </a:rPr>
              <a:t>Gel des couches pour éviter de réentraîner le modèle complet.</a:t>
            </a:r>
          </a:p>
          <a:p>
            <a:pPr algn="l">
              <a:lnSpc>
                <a:spcPts val="3280"/>
              </a:lnSpc>
            </a:pPr>
            <a:r>
              <a:rPr lang="en-US" sz="2343">
                <a:solidFill>
                  <a:srgbClr val="FFFFFF"/>
                </a:solidFill>
                <a:latin typeface="Raleway"/>
                <a:ea typeface="Raleway"/>
                <a:cs typeface="Raleway"/>
                <a:sym typeface="Raleway"/>
              </a:rPr>
              <a:t>Ajout d’une couche de classification adaptée à nos 7 catégories.</a:t>
            </a:r>
          </a:p>
          <a:p>
            <a:pPr algn="l">
              <a:lnSpc>
                <a:spcPts val="3280"/>
              </a:lnSpc>
            </a:pPr>
            <a:endParaRPr lang="en-US" sz="2343">
              <a:solidFill>
                <a:srgbClr val="FFFFFF"/>
              </a:solidFill>
              <a:latin typeface="Raleway"/>
              <a:ea typeface="Raleway"/>
              <a:cs typeface="Raleway"/>
              <a:sym typeface="Raleway"/>
            </a:endParaRPr>
          </a:p>
          <a:p>
            <a:pPr algn="l">
              <a:lnSpc>
                <a:spcPts val="3560"/>
              </a:lnSpc>
            </a:pPr>
            <a:r>
              <a:rPr lang="en-US" sz="2543" b="1">
                <a:solidFill>
                  <a:srgbClr val="FFFFFF"/>
                </a:solidFill>
                <a:latin typeface="Raleway Bold"/>
                <a:ea typeface="Raleway Bold"/>
                <a:cs typeface="Raleway Bold"/>
                <a:sym typeface="Raleway Bold"/>
              </a:rPr>
              <a:t>2. Entraînement du modèle</a:t>
            </a:r>
          </a:p>
          <a:p>
            <a:pPr marL="505935" lvl="1" indent="-252967" algn="l">
              <a:lnSpc>
                <a:spcPts val="3280"/>
              </a:lnSpc>
              <a:buFont typeface="Arial"/>
              <a:buChar char="•"/>
            </a:pPr>
            <a:r>
              <a:rPr lang="en-US" sz="2343">
                <a:solidFill>
                  <a:srgbClr val="FFFFFF"/>
                </a:solidFill>
                <a:latin typeface="Raleway"/>
                <a:ea typeface="Raleway"/>
                <a:cs typeface="Raleway"/>
                <a:sym typeface="Raleway"/>
              </a:rPr>
              <a:t>Approche 1 :</a:t>
            </a:r>
          </a:p>
          <a:p>
            <a:pPr algn="l">
              <a:lnSpc>
                <a:spcPts val="3280"/>
              </a:lnSpc>
            </a:pPr>
            <a:r>
              <a:rPr lang="en-US" sz="2343">
                <a:solidFill>
                  <a:srgbClr val="FFFFFF"/>
                </a:solidFill>
                <a:latin typeface="Raleway"/>
                <a:ea typeface="Raleway"/>
                <a:cs typeface="Raleway"/>
                <a:sym typeface="Raleway"/>
              </a:rPr>
              <a:t>Entraînement direct sur les images préparées, sans data augmentation.</a:t>
            </a:r>
          </a:p>
          <a:p>
            <a:pPr marL="505935" lvl="1" indent="-252967" algn="l">
              <a:lnSpc>
                <a:spcPts val="3280"/>
              </a:lnSpc>
              <a:buFont typeface="Arial"/>
              <a:buChar char="•"/>
            </a:pPr>
            <a:r>
              <a:rPr lang="en-US" sz="2343">
                <a:solidFill>
                  <a:srgbClr val="FFFFFF"/>
                </a:solidFill>
                <a:latin typeface="Raleway"/>
                <a:ea typeface="Raleway"/>
                <a:cs typeface="Raleway"/>
                <a:sym typeface="Raleway"/>
              </a:rPr>
              <a:t>Approche 2 :</a:t>
            </a:r>
          </a:p>
          <a:p>
            <a:pPr algn="l">
              <a:lnSpc>
                <a:spcPts val="3280"/>
              </a:lnSpc>
            </a:pPr>
            <a:r>
              <a:rPr lang="en-US" sz="2343">
                <a:solidFill>
                  <a:srgbClr val="FFFFFF"/>
                </a:solidFill>
                <a:latin typeface="Raleway"/>
                <a:ea typeface="Raleway"/>
                <a:cs typeface="Raleway"/>
                <a:sym typeface="Raleway"/>
              </a:rPr>
              <a:t>Entraînement avec data augmentation (rotation, translation, flip) pour enrichir les données.</a:t>
            </a:r>
          </a:p>
          <a:p>
            <a:pPr marL="505935" lvl="1" indent="-252967" algn="l">
              <a:lnSpc>
                <a:spcPts val="3280"/>
              </a:lnSpc>
              <a:buFont typeface="Arial"/>
              <a:buChar char="•"/>
            </a:pPr>
            <a:r>
              <a:rPr lang="en-US" sz="2343">
                <a:solidFill>
                  <a:srgbClr val="FFFFFF"/>
                </a:solidFill>
                <a:latin typeface="Raleway"/>
                <a:ea typeface="Raleway"/>
                <a:cs typeface="Raleway"/>
                <a:sym typeface="Raleway"/>
              </a:rPr>
              <a:t>Approche 3 :</a:t>
            </a:r>
          </a:p>
          <a:p>
            <a:pPr algn="l">
              <a:lnSpc>
                <a:spcPts val="3280"/>
              </a:lnSpc>
            </a:pPr>
            <a:r>
              <a:rPr lang="en-US" sz="2343">
                <a:solidFill>
                  <a:srgbClr val="FFFFFF"/>
                </a:solidFill>
                <a:latin typeface="Raleway"/>
                <a:ea typeface="Raleway"/>
                <a:cs typeface="Raleway"/>
                <a:sym typeface="Raleway"/>
              </a:rPr>
              <a:t>Entraînement avec TensorFlow Dataset incluant la data augmentation, pour optimiser la gestion des flux de données.</a:t>
            </a:r>
          </a:p>
          <a:p>
            <a:pPr algn="l">
              <a:lnSpc>
                <a:spcPts val="3280"/>
              </a:lnSpc>
            </a:pPr>
            <a:endParaRPr lang="en-US" sz="2343">
              <a:solidFill>
                <a:srgbClr val="FFFFFF"/>
              </a:solidFill>
              <a:latin typeface="Raleway"/>
              <a:ea typeface="Raleway"/>
              <a:cs typeface="Raleway"/>
              <a:sym typeface="Raleway"/>
            </a:endParaRPr>
          </a:p>
          <a:p>
            <a:pPr algn="l">
              <a:lnSpc>
                <a:spcPts val="3560"/>
              </a:lnSpc>
            </a:pPr>
            <a:r>
              <a:rPr lang="en-US" sz="2543" b="1">
                <a:solidFill>
                  <a:srgbClr val="FFFFFF"/>
                </a:solidFill>
                <a:latin typeface="Raleway Bold"/>
                <a:ea typeface="Raleway Bold"/>
                <a:cs typeface="Raleway Bold"/>
                <a:sym typeface="Raleway Bold"/>
              </a:rPr>
              <a:t>3. Évaluation du modèle</a:t>
            </a:r>
          </a:p>
          <a:p>
            <a:pPr algn="l">
              <a:lnSpc>
                <a:spcPts val="3280"/>
              </a:lnSpc>
            </a:pPr>
            <a:r>
              <a:rPr lang="en-US" sz="2343">
                <a:solidFill>
                  <a:srgbClr val="FFFFFF"/>
                </a:solidFill>
                <a:latin typeface="Raleway"/>
                <a:ea typeface="Raleway"/>
                <a:cs typeface="Raleway"/>
                <a:sym typeface="Raleway"/>
              </a:rPr>
              <a:t>Mesure de la précision sur le jeu de validation.</a:t>
            </a:r>
          </a:p>
          <a:p>
            <a:pPr algn="l">
              <a:lnSpc>
                <a:spcPts val="3280"/>
              </a:lnSpc>
            </a:pPr>
            <a:r>
              <a:rPr lang="en-US" sz="2343">
                <a:solidFill>
                  <a:srgbClr val="FFFFFF"/>
                </a:solidFill>
                <a:latin typeface="Raleway"/>
                <a:ea typeface="Raleway"/>
                <a:cs typeface="Raleway"/>
                <a:sym typeface="Raleway"/>
              </a:rPr>
              <a:t>Analyse des matrices de confusion et rapports de classification.</a:t>
            </a:r>
          </a:p>
          <a:p>
            <a:pPr algn="l">
              <a:lnSpc>
                <a:spcPts val="3280"/>
              </a:lnSpc>
            </a:pPr>
            <a:r>
              <a:rPr lang="en-US" sz="2343">
                <a:solidFill>
                  <a:srgbClr val="FFFFFF"/>
                </a:solidFill>
                <a:latin typeface="Raleway"/>
                <a:ea typeface="Raleway"/>
                <a:cs typeface="Raleway"/>
                <a:sym typeface="Raleway"/>
              </a:rPr>
              <a:t>Comparaison des performances obtenues avec et sans data augmentation.</a:t>
            </a:r>
          </a:p>
          <a:p>
            <a:pPr algn="l">
              <a:lnSpc>
                <a:spcPts val="3280"/>
              </a:lnSpc>
              <a:spcBef>
                <a:spcPct val="0"/>
              </a:spcBef>
            </a:pPr>
            <a:endParaRPr lang="en-US" sz="2343">
              <a:solidFill>
                <a:srgbClr val="FFFFFF"/>
              </a:solidFill>
              <a:latin typeface="Raleway"/>
              <a:ea typeface="Raleway"/>
              <a:cs typeface="Raleway"/>
              <a:sym typeface="Raleway"/>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3260690"/>
            <a:ext cx="5037889" cy="6356958"/>
          </a:xfrm>
          <a:custGeom>
            <a:avLst/>
            <a:gdLst/>
            <a:ahLst/>
            <a:cxnLst/>
            <a:rect l="l" t="t" r="r" b="b"/>
            <a:pathLst>
              <a:path w="5037889" h="6356958">
                <a:moveTo>
                  <a:pt x="0" y="0"/>
                </a:moveTo>
                <a:lnTo>
                  <a:pt x="5037889" y="0"/>
                </a:lnTo>
                <a:lnTo>
                  <a:pt x="5037889" y="6356958"/>
                </a:lnTo>
                <a:lnTo>
                  <a:pt x="0" y="6356958"/>
                </a:lnTo>
                <a:lnTo>
                  <a:pt x="0" y="0"/>
                </a:lnTo>
                <a:close/>
              </a:path>
            </a:pathLst>
          </a:custGeom>
          <a:blipFill>
            <a:blip r:embed="rId2"/>
            <a:stretch>
              <a:fillRect/>
            </a:stretch>
          </a:blipFill>
        </p:spPr>
      </p:sp>
      <p:sp>
        <p:nvSpPr>
          <p:cNvPr id="3" name="Freeform 3"/>
          <p:cNvSpPr/>
          <p:nvPr/>
        </p:nvSpPr>
        <p:spPr>
          <a:xfrm>
            <a:off x="9144000" y="436638"/>
            <a:ext cx="7475692" cy="4382624"/>
          </a:xfrm>
          <a:custGeom>
            <a:avLst/>
            <a:gdLst/>
            <a:ahLst/>
            <a:cxnLst/>
            <a:rect l="l" t="t" r="r" b="b"/>
            <a:pathLst>
              <a:path w="7475692" h="4382624">
                <a:moveTo>
                  <a:pt x="0" y="0"/>
                </a:moveTo>
                <a:lnTo>
                  <a:pt x="7475692" y="0"/>
                </a:lnTo>
                <a:lnTo>
                  <a:pt x="7475692" y="4382624"/>
                </a:lnTo>
                <a:lnTo>
                  <a:pt x="0" y="4382624"/>
                </a:lnTo>
                <a:lnTo>
                  <a:pt x="0" y="0"/>
                </a:lnTo>
                <a:close/>
              </a:path>
            </a:pathLst>
          </a:custGeom>
          <a:blipFill>
            <a:blip r:embed="rId3"/>
            <a:stretch>
              <a:fillRect/>
            </a:stretch>
          </a:blipFill>
        </p:spPr>
      </p:sp>
      <p:sp>
        <p:nvSpPr>
          <p:cNvPr id="4" name="Freeform 4"/>
          <p:cNvSpPr/>
          <p:nvPr/>
        </p:nvSpPr>
        <p:spPr>
          <a:xfrm>
            <a:off x="6414235" y="6266189"/>
            <a:ext cx="3757068" cy="2898122"/>
          </a:xfrm>
          <a:custGeom>
            <a:avLst/>
            <a:gdLst/>
            <a:ahLst/>
            <a:cxnLst/>
            <a:rect l="l" t="t" r="r" b="b"/>
            <a:pathLst>
              <a:path w="3757068" h="2898122">
                <a:moveTo>
                  <a:pt x="0" y="0"/>
                </a:moveTo>
                <a:lnTo>
                  <a:pt x="3757068" y="0"/>
                </a:lnTo>
                <a:lnTo>
                  <a:pt x="3757068" y="2898122"/>
                </a:lnTo>
                <a:lnTo>
                  <a:pt x="0" y="2898122"/>
                </a:lnTo>
                <a:lnTo>
                  <a:pt x="0" y="0"/>
                </a:lnTo>
                <a:close/>
              </a:path>
            </a:pathLst>
          </a:custGeom>
          <a:blipFill>
            <a:blip r:embed="rId4"/>
            <a:stretch>
              <a:fillRect/>
            </a:stretch>
          </a:blipFill>
        </p:spPr>
      </p:sp>
      <p:sp>
        <p:nvSpPr>
          <p:cNvPr id="5" name="Freeform 5"/>
          <p:cNvSpPr/>
          <p:nvPr/>
        </p:nvSpPr>
        <p:spPr>
          <a:xfrm>
            <a:off x="10171303" y="6266189"/>
            <a:ext cx="3572852" cy="2898122"/>
          </a:xfrm>
          <a:custGeom>
            <a:avLst/>
            <a:gdLst/>
            <a:ahLst/>
            <a:cxnLst/>
            <a:rect l="l" t="t" r="r" b="b"/>
            <a:pathLst>
              <a:path w="3572852" h="2898122">
                <a:moveTo>
                  <a:pt x="0" y="0"/>
                </a:moveTo>
                <a:lnTo>
                  <a:pt x="3572852" y="0"/>
                </a:lnTo>
                <a:lnTo>
                  <a:pt x="3572852" y="2898122"/>
                </a:lnTo>
                <a:lnTo>
                  <a:pt x="0" y="2898122"/>
                </a:lnTo>
                <a:lnTo>
                  <a:pt x="0" y="0"/>
                </a:lnTo>
                <a:close/>
              </a:path>
            </a:pathLst>
          </a:custGeom>
          <a:blipFill>
            <a:blip r:embed="rId5"/>
            <a:stretch>
              <a:fillRect/>
            </a:stretch>
          </a:blipFill>
        </p:spPr>
      </p:sp>
      <p:sp>
        <p:nvSpPr>
          <p:cNvPr id="6" name="Freeform 6"/>
          <p:cNvSpPr/>
          <p:nvPr/>
        </p:nvSpPr>
        <p:spPr>
          <a:xfrm>
            <a:off x="13919353" y="5143500"/>
            <a:ext cx="4397693" cy="5143500"/>
          </a:xfrm>
          <a:custGeom>
            <a:avLst/>
            <a:gdLst/>
            <a:ahLst/>
            <a:cxnLst/>
            <a:rect l="l" t="t" r="r" b="b"/>
            <a:pathLst>
              <a:path w="4397693" h="5143500">
                <a:moveTo>
                  <a:pt x="0" y="0"/>
                </a:moveTo>
                <a:lnTo>
                  <a:pt x="4397692" y="0"/>
                </a:lnTo>
                <a:lnTo>
                  <a:pt x="4397692" y="5143500"/>
                </a:lnTo>
                <a:lnTo>
                  <a:pt x="0" y="5143500"/>
                </a:lnTo>
                <a:lnTo>
                  <a:pt x="0" y="0"/>
                </a:lnTo>
                <a:close/>
              </a:path>
            </a:pathLst>
          </a:custGeom>
          <a:blipFill>
            <a:blip r:embed="rId6"/>
            <a:stretch>
              <a:fillRect/>
            </a:stretch>
          </a:blipFill>
        </p:spPr>
      </p:sp>
      <p:sp>
        <p:nvSpPr>
          <p:cNvPr id="7" name="TextBox 7"/>
          <p:cNvSpPr txBox="1"/>
          <p:nvPr/>
        </p:nvSpPr>
        <p:spPr>
          <a:xfrm>
            <a:off x="1028700" y="1171575"/>
            <a:ext cx="5385535"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Rendu visuel</a:t>
            </a:r>
          </a:p>
        </p:txBody>
      </p:sp>
      <p:sp>
        <p:nvSpPr>
          <p:cNvPr id="8" name="TextBox 8"/>
          <p:cNvSpPr txBox="1"/>
          <p:nvPr/>
        </p:nvSpPr>
        <p:spPr>
          <a:xfrm>
            <a:off x="1028700" y="2138085"/>
            <a:ext cx="5596355" cy="1122605"/>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Approche 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2758188" y="7180569"/>
            <a:ext cx="5034668" cy="2810260"/>
          </a:xfrm>
          <a:custGeom>
            <a:avLst/>
            <a:gdLst/>
            <a:ahLst/>
            <a:cxnLst/>
            <a:rect l="l" t="t" r="r" b="b"/>
            <a:pathLst>
              <a:path w="5034668" h="2810260">
                <a:moveTo>
                  <a:pt x="0" y="0"/>
                </a:moveTo>
                <a:lnTo>
                  <a:pt x="5034668" y="0"/>
                </a:lnTo>
                <a:lnTo>
                  <a:pt x="5034668" y="2810261"/>
                </a:lnTo>
                <a:lnTo>
                  <a:pt x="0" y="28102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354938" y="3738608"/>
            <a:ext cx="2843806" cy="1587361"/>
          </a:xfrm>
          <a:custGeom>
            <a:avLst/>
            <a:gdLst/>
            <a:ahLst/>
            <a:cxnLst/>
            <a:rect l="l" t="t" r="r" b="b"/>
            <a:pathLst>
              <a:path w="2843806" h="1587361">
                <a:moveTo>
                  <a:pt x="0" y="0"/>
                </a:moveTo>
                <a:lnTo>
                  <a:pt x="2843806" y="0"/>
                </a:lnTo>
                <a:lnTo>
                  <a:pt x="2843806" y="1587361"/>
                </a:lnTo>
                <a:lnTo>
                  <a:pt x="0" y="15873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785820" y="3275883"/>
            <a:ext cx="10716360" cy="4100173"/>
          </a:xfrm>
          <a:custGeom>
            <a:avLst/>
            <a:gdLst/>
            <a:ahLst/>
            <a:cxnLst/>
            <a:rect l="l" t="t" r="r" b="b"/>
            <a:pathLst>
              <a:path w="10716360" h="4100173">
                <a:moveTo>
                  <a:pt x="0" y="0"/>
                </a:moveTo>
                <a:lnTo>
                  <a:pt x="10716360" y="0"/>
                </a:lnTo>
                <a:lnTo>
                  <a:pt x="10716360" y="4100172"/>
                </a:lnTo>
                <a:lnTo>
                  <a:pt x="0" y="4100172"/>
                </a:lnTo>
                <a:lnTo>
                  <a:pt x="0" y="0"/>
                </a:lnTo>
                <a:close/>
              </a:path>
            </a:pathLst>
          </a:custGeom>
          <a:blipFill>
            <a:blip r:embed="rId6"/>
            <a:stretch>
              <a:fillRect/>
            </a:stretch>
          </a:blipFill>
        </p:spPr>
      </p:sp>
      <p:sp>
        <p:nvSpPr>
          <p:cNvPr id="5" name="TextBox 5"/>
          <p:cNvSpPr txBox="1"/>
          <p:nvPr/>
        </p:nvSpPr>
        <p:spPr>
          <a:xfrm>
            <a:off x="7827450" y="1171575"/>
            <a:ext cx="2633099" cy="112878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Résumé</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1355227" y="-514350"/>
            <a:ext cx="5904073" cy="11980352"/>
            <a:chOff x="0" y="0"/>
            <a:chExt cx="1554982" cy="3155319"/>
          </a:xfrm>
        </p:grpSpPr>
        <p:sp>
          <p:nvSpPr>
            <p:cNvPr id="3" name="Freeform 3"/>
            <p:cNvSpPr/>
            <p:nvPr/>
          </p:nvSpPr>
          <p:spPr>
            <a:xfrm>
              <a:off x="0" y="0"/>
              <a:ext cx="1554982" cy="3155319"/>
            </a:xfrm>
            <a:custGeom>
              <a:avLst/>
              <a:gdLst/>
              <a:ahLst/>
              <a:cxnLst/>
              <a:rect l="l" t="t" r="r" b="b"/>
              <a:pathLst>
                <a:path w="1554982" h="3155319">
                  <a:moveTo>
                    <a:pt x="0" y="0"/>
                  </a:moveTo>
                  <a:lnTo>
                    <a:pt x="1554982" y="0"/>
                  </a:lnTo>
                  <a:lnTo>
                    <a:pt x="1554982" y="3155319"/>
                  </a:lnTo>
                  <a:lnTo>
                    <a:pt x="0" y="3155319"/>
                  </a:lnTo>
                  <a:close/>
                </a:path>
              </a:pathLst>
            </a:custGeom>
            <a:gradFill rotWithShape="1">
              <a:gsLst>
                <a:gs pos="0">
                  <a:srgbClr val="FFF5E9">
                    <a:alpha val="100000"/>
                  </a:srgbClr>
                </a:gs>
                <a:gs pos="50000">
                  <a:srgbClr val="E7E8E4">
                    <a:alpha val="100000"/>
                  </a:srgbClr>
                </a:gs>
                <a:gs pos="100000">
                  <a:srgbClr val="E7E8E4">
                    <a:alpha val="0"/>
                  </a:srgbClr>
                </a:gs>
              </a:gsLst>
              <a:lin ang="5400000"/>
            </a:gradFill>
          </p:spPr>
        </p:sp>
        <p:sp>
          <p:nvSpPr>
            <p:cNvPr id="4" name="TextBox 4"/>
            <p:cNvSpPr txBox="1"/>
            <p:nvPr/>
          </p:nvSpPr>
          <p:spPr>
            <a:xfrm>
              <a:off x="0" y="-38100"/>
              <a:ext cx="1554982" cy="3193419"/>
            </a:xfrm>
            <a:prstGeom prst="rect">
              <a:avLst/>
            </a:prstGeom>
          </p:spPr>
          <p:txBody>
            <a:bodyPr lIns="50800" tIns="50800" rIns="50800" bIns="50800" rtlCol="0" anchor="ctr"/>
            <a:lstStyle/>
            <a:p>
              <a:pPr algn="ctr">
                <a:lnSpc>
                  <a:spcPts val="2212"/>
                </a:lnSpc>
              </a:pPr>
              <a:endParaRPr/>
            </a:p>
          </p:txBody>
        </p:sp>
      </p:grpSp>
      <p:grpSp>
        <p:nvGrpSpPr>
          <p:cNvPr id="5" name="Group 5"/>
          <p:cNvGrpSpPr/>
          <p:nvPr/>
        </p:nvGrpSpPr>
        <p:grpSpPr>
          <a:xfrm rot="-7498549">
            <a:off x="14571659" y="4508829"/>
            <a:ext cx="3413934" cy="341393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grpSp>
        <p:nvGrpSpPr>
          <p:cNvPr id="8" name="Group 8"/>
          <p:cNvGrpSpPr/>
          <p:nvPr/>
        </p:nvGrpSpPr>
        <p:grpSpPr>
          <a:xfrm>
            <a:off x="11737009" y="1729566"/>
            <a:ext cx="3413934" cy="341393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B87BA1">
                    <a:alpha val="100000"/>
                  </a:srgbClr>
                </a:gs>
                <a:gs pos="100000">
                  <a:srgbClr val="E7E8E4">
                    <a:alpha val="0"/>
                  </a:srgbClr>
                </a:gs>
              </a:gsLst>
              <a:lin ang="0"/>
            </a:gra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212"/>
                </a:lnSpc>
              </a:pPr>
              <a:endParaRPr/>
            </a:p>
          </p:txBody>
        </p:sp>
      </p:grpSp>
      <p:sp>
        <p:nvSpPr>
          <p:cNvPr id="11" name="Freeform 11"/>
          <p:cNvSpPr/>
          <p:nvPr/>
        </p:nvSpPr>
        <p:spPr>
          <a:xfrm>
            <a:off x="11617114" y="2864210"/>
            <a:ext cx="5380298" cy="4558580"/>
          </a:xfrm>
          <a:custGeom>
            <a:avLst/>
            <a:gdLst/>
            <a:ahLst/>
            <a:cxnLst/>
            <a:rect l="l" t="t" r="r" b="b"/>
            <a:pathLst>
              <a:path w="5380298" h="4558580">
                <a:moveTo>
                  <a:pt x="0" y="0"/>
                </a:moveTo>
                <a:lnTo>
                  <a:pt x="5380299" y="0"/>
                </a:lnTo>
                <a:lnTo>
                  <a:pt x="5380299" y="4558580"/>
                </a:lnTo>
                <a:lnTo>
                  <a:pt x="0" y="455858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1423809" y="3050522"/>
            <a:ext cx="7376678" cy="1130124"/>
          </a:xfrm>
          <a:prstGeom prst="rect">
            <a:avLst/>
          </a:prstGeom>
        </p:spPr>
        <p:txBody>
          <a:bodyPr lIns="0" tIns="0" rIns="0" bIns="0" rtlCol="0" anchor="t">
            <a:spAutoFit/>
          </a:bodyPr>
          <a:lstStyle/>
          <a:p>
            <a:pPr algn="l">
              <a:lnSpc>
                <a:spcPts val="8315"/>
              </a:lnSpc>
            </a:pPr>
            <a:r>
              <a:rPr lang="en-US" sz="8315" b="1">
                <a:solidFill>
                  <a:srgbClr val="FFFFFF"/>
                </a:solidFill>
                <a:latin typeface="Bebas Neue Bold"/>
                <a:ea typeface="Bebas Neue Bold"/>
                <a:cs typeface="Bebas Neue Bold"/>
                <a:sym typeface="Bebas Neue Bold"/>
              </a:rPr>
              <a:t>Collecte de données</a:t>
            </a:r>
          </a:p>
        </p:txBody>
      </p:sp>
      <p:sp>
        <p:nvSpPr>
          <p:cNvPr id="13" name="TextBox 13"/>
          <p:cNvSpPr txBox="1"/>
          <p:nvPr/>
        </p:nvSpPr>
        <p:spPr>
          <a:xfrm>
            <a:off x="1423809" y="4017032"/>
            <a:ext cx="7720191" cy="1122605"/>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API openfoodfacts</a:t>
            </a:r>
          </a:p>
        </p:txBody>
      </p:sp>
      <p:sp>
        <p:nvSpPr>
          <p:cNvPr id="14" name="TextBox 14"/>
          <p:cNvSpPr txBox="1"/>
          <p:nvPr/>
        </p:nvSpPr>
        <p:spPr>
          <a:xfrm>
            <a:off x="1423809" y="5251268"/>
            <a:ext cx="9227351" cy="2529454"/>
          </a:xfrm>
          <a:prstGeom prst="rect">
            <a:avLst/>
          </a:prstGeom>
        </p:spPr>
        <p:txBody>
          <a:bodyPr lIns="0" tIns="0" rIns="0" bIns="0" rtlCol="0" anchor="t">
            <a:spAutoFit/>
          </a:bodyPr>
          <a:lstStyle/>
          <a:p>
            <a:pPr algn="l">
              <a:lnSpc>
                <a:spcPts val="2856"/>
              </a:lnSpc>
            </a:pPr>
            <a:r>
              <a:rPr lang="en-US" sz="2040">
                <a:solidFill>
                  <a:srgbClr val="FFFFFF"/>
                </a:solidFill>
                <a:latin typeface="Raleway"/>
                <a:ea typeface="Raleway"/>
                <a:cs typeface="Raleway"/>
                <a:sym typeface="Raleway"/>
              </a:rPr>
              <a:t>Pour compléter notre étude, nous avons développé un script Python permettant d’extraire des produits liés au mot "champagne" depuis l’API OpenFoodFacts.</a:t>
            </a:r>
          </a:p>
          <a:p>
            <a:pPr algn="l">
              <a:lnSpc>
                <a:spcPts val="2856"/>
              </a:lnSpc>
              <a:spcBef>
                <a:spcPct val="0"/>
              </a:spcBef>
            </a:pPr>
            <a:r>
              <a:rPr lang="en-US" sz="2040">
                <a:solidFill>
                  <a:srgbClr val="FFFFFF"/>
                </a:solidFill>
                <a:latin typeface="Raleway"/>
                <a:ea typeface="Raleway"/>
                <a:cs typeface="Raleway"/>
                <a:sym typeface="Raleway"/>
              </a:rPr>
              <a:t> L’objectif était de tester la capacité du modèle à s’adapter à un nouveau cas d’usage et de produire un fichier CSV prêt à l’emploi contenant les références, libellés, catégories, ingrédients et images des 10 premiers produits trouvés.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28700" y="2982801"/>
            <a:ext cx="16230600" cy="4321397"/>
          </a:xfrm>
          <a:custGeom>
            <a:avLst/>
            <a:gdLst/>
            <a:ahLst/>
            <a:cxnLst/>
            <a:rect l="l" t="t" r="r" b="b"/>
            <a:pathLst>
              <a:path w="16230600" h="4321397">
                <a:moveTo>
                  <a:pt x="0" y="0"/>
                </a:moveTo>
                <a:lnTo>
                  <a:pt x="16230600" y="0"/>
                </a:lnTo>
                <a:lnTo>
                  <a:pt x="16230600" y="4321398"/>
                </a:lnTo>
                <a:lnTo>
                  <a:pt x="0" y="4321398"/>
                </a:lnTo>
                <a:lnTo>
                  <a:pt x="0" y="0"/>
                </a:lnTo>
                <a:close/>
              </a:path>
            </a:pathLst>
          </a:custGeom>
          <a:blipFill>
            <a:blip r:embed="rId2"/>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7149025" y="2609822"/>
            <a:ext cx="3989950" cy="1128786"/>
          </a:xfrm>
          <a:prstGeom prst="rect">
            <a:avLst/>
          </a:prstGeom>
        </p:spPr>
        <p:txBody>
          <a:bodyPr lIns="0" tIns="0" rIns="0" bIns="0" rtlCol="0" anchor="t">
            <a:spAutoFit/>
          </a:bodyPr>
          <a:lstStyle/>
          <a:p>
            <a:pPr algn="l">
              <a:lnSpc>
                <a:spcPts val="8315"/>
              </a:lnSpc>
            </a:pPr>
            <a:r>
              <a:rPr lang="en-US" sz="8315" b="1">
                <a:solidFill>
                  <a:srgbClr val="D563A1"/>
                </a:solidFill>
                <a:latin typeface="Bebas Neue Bold"/>
                <a:ea typeface="Bebas Neue Bold"/>
                <a:cs typeface="Bebas Neue Bold"/>
                <a:sym typeface="Bebas Neue Bold"/>
              </a:rPr>
              <a:t>Conclusion</a:t>
            </a:r>
          </a:p>
        </p:txBody>
      </p:sp>
      <p:sp>
        <p:nvSpPr>
          <p:cNvPr id="3" name="TextBox 3"/>
          <p:cNvSpPr txBox="1"/>
          <p:nvPr/>
        </p:nvSpPr>
        <p:spPr>
          <a:xfrm>
            <a:off x="4804242" y="3981013"/>
            <a:ext cx="8679517" cy="4701154"/>
          </a:xfrm>
          <a:prstGeom prst="rect">
            <a:avLst/>
          </a:prstGeom>
        </p:spPr>
        <p:txBody>
          <a:bodyPr lIns="0" tIns="0" rIns="0" bIns="0" rtlCol="0" anchor="t">
            <a:spAutoFit/>
          </a:bodyPr>
          <a:lstStyle/>
          <a:p>
            <a:pPr algn="l">
              <a:lnSpc>
                <a:spcPts val="2856"/>
              </a:lnSpc>
            </a:pPr>
            <a:r>
              <a:rPr lang="en-US" sz="2040">
                <a:solidFill>
                  <a:srgbClr val="FFFFFF"/>
                </a:solidFill>
                <a:latin typeface="Raleway"/>
                <a:ea typeface="Raleway"/>
                <a:cs typeface="Raleway"/>
                <a:sym typeface="Raleway"/>
              </a:rPr>
              <a:t>En résumé, nous avons démontré qu’il est possible d’automatiser la classification de produits e-commerce à partir de leur texte ou de leur image.</a:t>
            </a:r>
          </a:p>
          <a:p>
            <a:pPr algn="l">
              <a:lnSpc>
                <a:spcPts val="2856"/>
              </a:lnSpc>
            </a:pPr>
            <a:r>
              <a:rPr lang="en-US" sz="2040">
                <a:solidFill>
                  <a:srgbClr val="FFFFFF"/>
                </a:solidFill>
                <a:latin typeface="Raleway"/>
                <a:ea typeface="Raleway"/>
                <a:cs typeface="Raleway"/>
                <a:sym typeface="Raleway"/>
              </a:rPr>
              <a:t> Nous avons testé plusieurs approches : des méthodes classiques comme le Bag of Words ou SIFT, jusqu’à des modèles avancés comme BERT ou VGG16.</a:t>
            </a:r>
          </a:p>
          <a:p>
            <a:pPr algn="l">
              <a:lnSpc>
                <a:spcPts val="2856"/>
              </a:lnSpc>
            </a:pPr>
            <a:r>
              <a:rPr lang="en-US" sz="2040">
                <a:solidFill>
                  <a:srgbClr val="FFFFFF"/>
                </a:solidFill>
                <a:latin typeface="Raleway"/>
                <a:ea typeface="Raleway"/>
                <a:cs typeface="Raleway"/>
                <a:sym typeface="Raleway"/>
              </a:rPr>
              <a:t> Nos résultats montrent que les modèles d’images avec VGG16 et data augmentation offrent les meilleures performances, tout en restant adaptables à d’autres jeux de données, comme ceux extraits via l’API OpenFoodFacts.</a:t>
            </a:r>
          </a:p>
          <a:p>
            <a:pPr algn="l">
              <a:lnSpc>
                <a:spcPts val="2856"/>
              </a:lnSpc>
              <a:spcBef>
                <a:spcPct val="0"/>
              </a:spcBef>
            </a:pPr>
            <a:r>
              <a:rPr lang="en-US" sz="2040">
                <a:solidFill>
                  <a:srgbClr val="FFFFFF"/>
                </a:solidFill>
                <a:latin typeface="Raleway"/>
                <a:ea typeface="Raleway"/>
                <a:cs typeface="Raleway"/>
                <a:sym typeface="Raleway"/>
              </a:rPr>
              <a:t> Ce travail pose ainsi les bases solides d’un moteur de classification automatique, prêt à accompagner la montée en charge de la marketplace et à améliorer l’expérience utilisateur.</a:t>
            </a:r>
          </a:p>
        </p:txBody>
      </p:sp>
      <p:sp>
        <p:nvSpPr>
          <p:cNvPr id="4" name="Freeform 4"/>
          <p:cNvSpPr/>
          <p:nvPr/>
        </p:nvSpPr>
        <p:spPr>
          <a:xfrm>
            <a:off x="12758188" y="7180569"/>
            <a:ext cx="5034668" cy="2810260"/>
          </a:xfrm>
          <a:custGeom>
            <a:avLst/>
            <a:gdLst/>
            <a:ahLst/>
            <a:cxnLst/>
            <a:rect l="l" t="t" r="r" b="b"/>
            <a:pathLst>
              <a:path w="5034668" h="2810260">
                <a:moveTo>
                  <a:pt x="0" y="0"/>
                </a:moveTo>
                <a:lnTo>
                  <a:pt x="5034668" y="0"/>
                </a:lnTo>
                <a:lnTo>
                  <a:pt x="5034668" y="2810261"/>
                </a:lnTo>
                <a:lnTo>
                  <a:pt x="0" y="28102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354938" y="3738608"/>
            <a:ext cx="2843806" cy="1587361"/>
          </a:xfrm>
          <a:custGeom>
            <a:avLst/>
            <a:gdLst/>
            <a:ahLst/>
            <a:cxnLst/>
            <a:rect l="l" t="t" r="r" b="b"/>
            <a:pathLst>
              <a:path w="2843806" h="1587361">
                <a:moveTo>
                  <a:pt x="0" y="0"/>
                </a:moveTo>
                <a:lnTo>
                  <a:pt x="2843806" y="0"/>
                </a:lnTo>
                <a:lnTo>
                  <a:pt x="2843806" y="1587361"/>
                </a:lnTo>
                <a:lnTo>
                  <a:pt x="0" y="15873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2C2F6F">
                <a:alpha val="100000"/>
              </a:srgbClr>
            </a:gs>
            <a:gs pos="100000">
              <a:srgbClr val="490F3E">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9915709" y="1948725"/>
            <a:ext cx="7343591" cy="6703874"/>
          </a:xfrm>
          <a:prstGeom prst="rect">
            <a:avLst/>
          </a:prstGeom>
        </p:spPr>
        <p:txBody>
          <a:bodyPr lIns="0" tIns="0" rIns="0" bIns="0" rtlCol="0" anchor="t">
            <a:spAutoFit/>
          </a:bodyPr>
          <a:lstStyle/>
          <a:p>
            <a:pPr algn="ctr">
              <a:lnSpc>
                <a:spcPts val="17182"/>
              </a:lnSpc>
            </a:pPr>
            <a:r>
              <a:rPr lang="en-US" sz="17182" b="1">
                <a:solidFill>
                  <a:srgbClr val="FFFFFF"/>
                </a:solidFill>
                <a:latin typeface="Bebas Neue Bold"/>
                <a:ea typeface="Bebas Neue Bold"/>
                <a:cs typeface="Bebas Neue Bold"/>
                <a:sym typeface="Bebas Neue Bold"/>
              </a:rPr>
              <a:t>Questions - Réponses</a:t>
            </a:r>
          </a:p>
        </p:txBody>
      </p:sp>
      <p:sp>
        <p:nvSpPr>
          <p:cNvPr id="3" name="Freeform 3"/>
          <p:cNvSpPr/>
          <p:nvPr/>
        </p:nvSpPr>
        <p:spPr>
          <a:xfrm>
            <a:off x="1028700" y="2551665"/>
            <a:ext cx="5472204" cy="5183670"/>
          </a:xfrm>
          <a:custGeom>
            <a:avLst/>
            <a:gdLst/>
            <a:ahLst/>
            <a:cxnLst/>
            <a:rect l="l" t="t" r="r" b="b"/>
            <a:pathLst>
              <a:path w="5472204" h="5183670">
                <a:moveTo>
                  <a:pt x="0" y="0"/>
                </a:moveTo>
                <a:lnTo>
                  <a:pt x="5472204" y="0"/>
                </a:lnTo>
                <a:lnTo>
                  <a:pt x="5472204" y="5183670"/>
                </a:lnTo>
                <a:lnTo>
                  <a:pt x="0" y="51836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1806</Words>
  <Application>Microsoft Office PowerPoint</Application>
  <PresentationFormat>Personnalisé</PresentationFormat>
  <Paragraphs>159</Paragraphs>
  <Slides>25</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25</vt:i4>
      </vt:variant>
    </vt:vector>
  </HeadingPairs>
  <TitlesOfParts>
    <vt:vector size="34" baseType="lpstr">
      <vt:lpstr>Raleway</vt:lpstr>
      <vt:lpstr>Bebas Neue Bold</vt:lpstr>
      <vt:lpstr>Raleway Bold</vt:lpstr>
      <vt:lpstr>Arial</vt:lpstr>
      <vt:lpstr>Raleway Italics</vt:lpstr>
      <vt:lpstr>Raleway Bold Italics</vt:lpstr>
      <vt:lpstr>Calibri</vt:lpstr>
      <vt:lpstr>Open Sans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Flipkart</dc:title>
  <cp:lastModifiedBy>Chadi OUHABI</cp:lastModifiedBy>
  <cp:revision>2</cp:revision>
  <dcterms:created xsi:type="dcterms:W3CDTF">2006-08-16T00:00:00Z</dcterms:created>
  <dcterms:modified xsi:type="dcterms:W3CDTF">2025-05-18T14:56:54Z</dcterms:modified>
  <dc:identifier>DAGnnVaktKc</dc:identifier>
</cp:coreProperties>
</file>